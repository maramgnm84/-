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الغلاف. ابدئي بسؤال تشويقي: «ماذا يحدث لو تعلّمنا من تجارب غيرنا قبل أن نخطئ نحن؟» ثم انتقلي إلى الشريحة التالية. (وقت مقترح: دقيقة واحدة)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اتركي الطالبات يجبن شفهيًا على سؤال الفقاعة (دقيقتان). اربطي إجاباتهن بفكرة: «التجارب الصعبة معلّم». الشريحة التالية نشاط تفاعلي يوسّع هذا السؤال.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«فكّر – ناقش – شارك» (4 دقائق): 1) تفكر كل طالبة بصمت دقيقة. 2) مناقشة ثنائية دقيقتان. 3) تشارك 3–4 طالبات بجملة تبدأ بـ «تعلمتُ أن…». سجّلي الدروس على السبورة لنعود إليها في ختام الدرس.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اقرئي البطاقة ببطء، وركّزي على لقب «حكيم العصر العباسي». يمكن سؤال الطالبات: لماذا نسمّي الشاعر حكيمًا؟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خريطة الدرس: أربع قواعد = أربعة أغصان. اربطي كل غصن برمزه: البوصلة، الشمس، الأقنعة، الدرع. سنخصص لكل قاعدة هوية لونية ثابتة في بقية العرض.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البيت 1 يحذّر: من يجاري الدنيء يصير مثله (التأثير السلبي). البيت 2 يقدّم النموذج الإيجابي: الحر النبيل يحميه وفاؤه. الصورة اليمنى مظلمة للتحذير واليسرى مضيئة للقدوة.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مفتاح يفتح معنى كلمة صعبة. اسألي: من تستطيع استخدام الكلمة في جملة من إنشائها؟ (دقيقتان)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1) ب  2) أ  3) ب  4) ب. اطلبي من الطالبات تسمية القرينة (الكلمة في الجملة) التي ساعدتهن على الاستنتاج.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الإجابة المتوقعة: (ب). البيت المناسب: «إذا جاريت في خلق دنيئًا فأنت ومن تجاريه سواءُ» و«رأيتُ الحرّ يجتنبُ المخازي». اطلبي من كل مجموعة تعليل اختيارها، وناقشي لماذا يبدو الخيار (أ) سهلًا ولكنه خاطئ.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المنحنى يهبط ثم يصعد: الشدة جزء من الطريق وليست نهايته. العناء في البيت 4 = التعب والمشقة. اسألي: هل كل تجربة صعبة تجعلنا أقوى تلقائيًا؟ (تعلّم الدرس هو الفارق).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اطلبي من كل مجموعة جدولًا من عمودين (الموقف أ / الموقف ب): رد الفعل – النتيجة المتوقعة. الإجابة: ريم هي من طبّقت البيت؛ لأنها آمنت بأن بعد الشدة رخاء وسعت لتصحيح أخطائها.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الكرسي المضيء = المنصب/المال. الكرسي الباهت = زوال النعمة. الناس الذين يبتعدون = الجفاء. الأقنعة تسقط عند أول اختبار.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تُناقَش في مجموعات (4 دقائق). إجابات مقترحة: 1) قناع اللطف المبالغ فيه لأجل المنصب، وحقيقتها السخرية والنفاق. 3) البيت 5: «إذا ما رأس أهل البيت ولّى…». 4) الصديق الحقيقي يبقى في الحضور والغياب وفي الشدة والرخاء.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الشجرة الخضراء (يمين) = الحياء حاضر. الجذع اليابس (يسار) = الحياء غائب. اللحاء هو الدرع الحامي للشجرة كما أن الحياء درع للروح. اقرئي الأبيات الثلاثة بإلقاء شعري ثم اطلبي من طالبة إعادة القراءة.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اتركي المجموعات تقرر وتعلل (4 دقائق). المتوقع: القرار (ب) مع الاستشهاد بـ «يعيش المرء ما استحيا بخير…» و«إذا لم تخش عاقبة الليالي ولم تستحِ فاصنع ما تشاءُ». ناقشي كيف يتحول الحياء إلى درع يمنع الخطأ قبل وقوعه.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أدوات بلاغية في القصيدة: التشبيه يرسم الفكرة، والكناية تلمّح للمعنى، والطباق يوضح المعنى بضده. الشريحة التالية تدريب عملي.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1) تشبيه بليغ (شبّه الإنسان بالعود والحياء باللحاء) – يجسّد أهمية الحياء. 2) كناية عن المنصب/المال/المكانة. 3) طباق بين «الغدر» و«الوفاء». 4) طباق بين «الشدة» و«الرخاء».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الحكمة القديمة تعمل اليوم: المجموعات السلبية هي «المجاراة»، والفشل المؤقت هو «الشدة»، وسلوكنا الرقمي هو «لحاء الشجرة». اطلبي من طالبات إضافة مثال معاصر رابع.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 ← ج (أحمد والجماعة)  2 ← أ (ليلى)  3 ← د (المدير)  4 ← ب (الطالب الذي يستحي). تُرسم الخطوط بالقلم على الورقة المطبوعة أو تُكتب الأرقام بجانب الحروف.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1) بوصلة الأصدقاء (الغدر/الوفاء)  2) منحنى المرونة  3) الأقنعة المزيفة  4) درع الروح (الحياء). اطلبي من الطالبات ذكر بيت أو كلمة مفتاحية يدل على اختيارهن.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القصة المصورة (7 دقائق): خمسة مشاهد من أسبوع في حياة سلمى، كل مشهد يعيش فيه الموقفُ بيتًا من القصيدة. يمكن قراءتها بتوزيع الأدوار على الطالبات (السارد، سلمى، ريم، هالة، دانة، الأستاذة نورة).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الأول: الصديق وقت الشدّة. الحكمة: الصديق الحقيقي يظهر في المواقف الصعبة. اسألي: ما القرار الذي اتخذته سلمى؟ وما النتيجة؟ وكيف تغيّرت شخصيتها بعد هذا الموقف؟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الثاني: بعد الشدة رخاء. الحكمة: الشدة لا تدوم، والمحاولة من جديد تصنع الرخاء. اسألي: ما القرار الذي اتخذته سلمى؟ وما النتيجة؟ وكيف تغيّرت شخصيتها بعد هذا الموقف؟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الثالث: خلف القناع. الحكمة: احترام بعض الناس قد يكون للمنصب فقط. اسألي: ما القرار الذي اتخذته سلمى؟ وما النتيجة؟ وكيف تغيّرت شخصيتها بعد هذا الموقف؟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الرابع: قرار الحياء. الحكمة: الحياء درع يحفظ كرامة الإنسان. اسألي: ما القرار الذي اتخذته سلمى؟ وما النتيجة؟ وكيف تغيّرت شخصيتها بعد هذا الموقف؟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الختامي: تتأمل سلمى المواقف الأربعة (البوصلة، الشمس، الأقنعة، الدرع). اطلبي من الطالبات ربط كل أيقونة بمشهد من المشاهد.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اتركي دقيقتين للكتابة الفردية ثم 3–4 مشاركات. شجّعي الطالبات على ربط موقفهن ببيت من القصيدة.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1) بيان قواعد الحياة والحكمة (الصحبة الصالحة، الصبر، عدم الاغترار بالمظاهر، الحياء). 2) طباق. 3) «إذا جاريت في خلق دنيئًا فأنت ومن تجاريه سواءُ».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إجابة جولة إكمال البيت: «ولم تستحِ فاصنع ما تشاءُ». استخدمي مؤقتًا. يمكن توزيع الجولات على أربع مجموعات بالتناوب.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تُكتب الإجابة على ورقة صغيرة وتُسلَّم عند الخروج (تأشيرة مغادرة الدرس).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4.png"/><Relationship Id="rId6" Type="http://schemas.openxmlformats.org/officeDocument/2006/relationships/image" Target="../media/image-18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تجارب الحياة</a:t>
            </a:r>
            <a:endParaRPr lang="ar-SA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2B3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ذهبية للنجاة والنجاح... من الشاعر أبي تمام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3657600" y="5943600"/>
            <a:ext cx="4873752" cy="566928"/>
          </a:xfrm>
          <a:prstGeom prst="roundRect">
            <a:avLst>
              <a:gd name="adj" fmla="val 50000"/>
            </a:avLst>
          </a:prstGeom>
          <a:solidFill>
            <a:srgbClr val="FFF1B8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657600" y="5943600"/>
            <a:ext cx="4873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6B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مخصص لطلاب الصف الثامن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الحياة مدرسة حقاً؟</a:t>
            </a:r>
            <a:endParaRPr lang="ar-SA" sz="5200" dirty="0"/>
          </a:p>
        </p:txBody>
      </p:sp>
      <p:pic>
        <p:nvPicPr>
          <p:cNvPr id="3" name="Image 0" descr="/tmp/claude-0/-home-user--/a6be5f54-c5fc-5152-81b5-e47355a16d24/scratchpad/art/deck/s2_l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00200"/>
            <a:ext cx="5760720" cy="47133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691640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ar-SA" altLang="en-US" sz="25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«شعر الحكمة»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ليس مجرد كلمات قديمة للحفظ، بل هو خلاصة مواقف حقيقية، وقصص، وقصص، وعبر عاشها الشاعر قبل 1200 عام... ليقدمها لنا اليوم كـ 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«كبسولة طاقة»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أو 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«قاعدة حياة»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جاهزة للاستخدام في يومنا هذا.</a:t>
            </a:r>
            <a:endParaRPr lang="ar-SA" sz="2500" dirty="0"/>
          </a:p>
        </p:txBody>
      </p:sp>
      <p:sp>
        <p:nvSpPr>
          <p:cNvPr id="5" name="Shape 2"/>
          <p:cNvSpPr/>
          <p:nvPr/>
        </p:nvSpPr>
        <p:spPr>
          <a:xfrm>
            <a:off x="5989320" y="4892040"/>
            <a:ext cx="5669280" cy="1417320"/>
          </a:xfrm>
          <a:prstGeom prst="roundRect">
            <a:avLst>
              <a:gd name="adj" fmla="val 32258"/>
            </a:avLst>
          </a:prstGeom>
          <a:solidFill>
            <a:srgbClr val="FFC857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 flipV="1">
            <a:off x="6400800" y="6263640"/>
            <a:ext cx="457200" cy="365760"/>
          </a:xfrm>
          <a:prstGeom prst="rtTriangle">
            <a:avLst/>
          </a:prstGeom>
          <a:solidFill>
            <a:srgbClr val="FFC85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48920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b="1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سبق أن تعلمت</a:t>
            </a:r>
            <a:endParaRPr lang="ar-SA" sz="2500" dirty="0"/>
          </a:p>
          <a:p>
            <a:pPr algn="ctr" indent="0" marL="0">
              <a:buNone/>
            </a:pPr>
            <a:r>
              <a:rPr lang="ar-SA" altLang="en-US" sz="2500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درساً قاسياً ومفيداً من موقف صعب مررت به؟</a:t>
            </a:r>
            <a:endParaRPr lang="ar-SA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7A5A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365760"/>
            <a:ext cx="9006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فكّر – ناقش – شارك</a:t>
            </a:r>
            <a:endParaRPr lang="ar-SA" sz="4400" dirty="0"/>
          </a:p>
        </p:txBody>
      </p:sp>
      <p:pic>
        <p:nvPicPr>
          <p:cNvPr id="5" name="Image 0" descr="/tmp/claude-0/-home-user--/a6be5f54-c5fc-5152-81b5-e47355a16d24/scratchpad/art/deck/a_th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78308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8388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</a:t>
            </a:r>
            <a:endParaRPr lang="ar-SA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(دقيقة واحدة)</a:t>
            </a:r>
            <a:endParaRPr lang="ar-SA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تذكّري موقفًا صعبًا مررتِ به وعلّمك درسًا لا تنسينه.</a:t>
            </a:r>
            <a:endParaRPr lang="ar-SA" sz="2100" dirty="0"/>
          </a:p>
        </p:txBody>
      </p:sp>
      <p:sp>
        <p:nvSpPr>
          <p:cNvPr id="9" name="Shape 6"/>
          <p:cNvSpPr/>
          <p:nvPr/>
        </p:nvSpPr>
        <p:spPr>
          <a:xfrm flipH="1">
            <a:off x="7040880" y="2560320"/>
            <a:ext cx="640080" cy="0"/>
          </a:xfrm>
          <a:prstGeom prst="line">
            <a:avLst/>
          </a:prstGeom>
          <a:noFill/>
          <a:ln w="44450">
            <a:solidFill>
              <a:srgbClr val="7A5AE0"/>
            </a:solidFill>
            <a:prstDash val="dash"/>
            <a:tailEnd type="triangle"/>
          </a:ln>
        </p:spPr>
      </p:sp>
      <p:pic>
        <p:nvPicPr>
          <p:cNvPr id="10" name="Image 1" descr="/tmp/claude-0/-home-user--/a6be5f54-c5fc-5152-81b5-e47355a16d24/scratchpad/art/deck/a_ta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83080"/>
            <a:ext cx="1554480" cy="1554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ناقش</a:t>
            </a:r>
            <a:endParaRPr lang="ar-SA" sz="3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(دقيقتان)</a:t>
            </a:r>
            <a:endParaRPr lang="ar-SA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حدّثي زميلتك عن الموقف: ماذا حدث؟ وماذا فعلتِ؟</a:t>
            </a:r>
            <a:endParaRPr lang="ar-SA" sz="2100" dirty="0"/>
          </a:p>
        </p:txBody>
      </p:sp>
      <p:sp>
        <p:nvSpPr>
          <p:cNvPr id="14" name="Shape 10"/>
          <p:cNvSpPr/>
          <p:nvPr/>
        </p:nvSpPr>
        <p:spPr>
          <a:xfrm flipH="1">
            <a:off x="3429000" y="2560320"/>
            <a:ext cx="640080" cy="0"/>
          </a:xfrm>
          <a:prstGeom prst="line">
            <a:avLst/>
          </a:prstGeom>
          <a:noFill/>
          <a:ln w="44450">
            <a:solidFill>
              <a:srgbClr val="7A5AE0"/>
            </a:solidFill>
            <a:prstDash val="dash"/>
            <a:tailEnd type="triangle"/>
          </a:ln>
        </p:spPr>
      </p:sp>
      <p:pic>
        <p:nvPicPr>
          <p:cNvPr id="15" name="Image 2" descr="/tmp/claude-0/-home-user--/a6be5f54-c5fc-5152-81b5-e47355a16d24/scratchpad/art/deck/a_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783080"/>
            <a:ext cx="1554480" cy="1554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012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</a:t>
            </a:r>
            <a:endParaRPr lang="ar-SA" sz="38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(دقيقة)</a:t>
            </a:r>
            <a:endParaRPr lang="ar-SA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5156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أكملي أمام الصف: «تعلمتُ من هذا الموقف أن …»</a:t>
            </a:r>
            <a:endParaRPr lang="ar-SA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1097280" y="5989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الحوار: نستمع بهدوء، ونحترم تجارب بعضنا، ولا نسخر من أحد.</a:t>
            </a:r>
            <a:endParaRPr lang="ar-SA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تعارف: حكيم العصر العباسي</a:t>
            </a:r>
            <a:endParaRPr lang="ar-SA" sz="4600" dirty="0"/>
          </a:p>
        </p:txBody>
      </p:sp>
      <p:pic>
        <p:nvPicPr>
          <p:cNvPr id="3" name="Image 0" descr="/tmp/claude-0/-home-user--/a6be5f54-c5fc-5152-81b5-e47355a16d24/scratchpad/art/deck/s3_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4059936" cy="5074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0" y="1508760"/>
            <a:ext cx="7132320" cy="5074920"/>
          </a:xfrm>
          <a:prstGeom prst="roundRect">
            <a:avLst>
              <a:gd name="adj" fmla="val 8108"/>
            </a:avLst>
          </a:prstGeom>
          <a:solidFill>
            <a:srgbClr val="FFFFFF">
              <a:alpha val="75000"/>
            </a:srgbClr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5" name="Image 1" descr="/tmp/claude-0/-home-user--/a6be5f54-c5fc-5152-81b5-e47355a16d24/scratchpad/art/deck/bio_per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737360"/>
            <a:ext cx="768096" cy="7680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800600" y="1737360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حبيب بن أوس بن الحارث الطائي (أبو تمام)</a:t>
            </a:r>
            <a:endParaRPr lang="ar-SA" sz="2600" dirty="0"/>
          </a:p>
        </p:txBody>
      </p:sp>
      <p:pic>
        <p:nvPicPr>
          <p:cNvPr id="7" name="Image 2" descr="/tmp/claude-0/-home-user--/a6be5f54-c5fc-5152-81b5-e47355a16d24/scratchpad/art/deck/bio_p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2688336"/>
            <a:ext cx="768096" cy="76809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800600" y="2688336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المهنة: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شاعر عربي وحكيم</a:t>
            </a:r>
            <a:endParaRPr lang="ar-SA" sz="2600" dirty="0"/>
          </a:p>
        </p:txBody>
      </p:sp>
      <p:pic>
        <p:nvPicPr>
          <p:cNvPr id="9" name="Image 3" descr="/tmp/claude-0/-home-user--/a6be5f54-c5fc-5152-81b5-e47355a16d24/scratchpad/art/deck/bio_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3639312"/>
            <a:ext cx="768096" cy="76809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800600" y="3639312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الميلاد: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804 م – قرية جاسم (سوريا)</a:t>
            </a:r>
            <a:endParaRPr lang="ar-SA" sz="2600" dirty="0"/>
          </a:p>
        </p:txBody>
      </p:sp>
      <p:pic>
        <p:nvPicPr>
          <p:cNvPr id="11" name="Image 4" descr="/tmp/claude-0/-home-user--/a6be5f54-c5fc-5152-81b5-e47355a16d24/scratchpad/art/deck/bio_lea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0" y="4590288"/>
            <a:ext cx="768096" cy="76809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4800600" y="4590288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الوفاة: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الموصل (العراق) 846 م</a:t>
            </a:r>
            <a:endParaRPr lang="ar-SA" sz="2600" dirty="0"/>
          </a:p>
        </p:txBody>
      </p:sp>
      <p:pic>
        <p:nvPicPr>
          <p:cNvPr id="13" name="Image 5" descr="/tmp/claude-0/-home-user--/a6be5f54-c5fc-5152-81b5-e47355a16d24/scratchpad/art/deck/bio_hou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0" y="5541264"/>
            <a:ext cx="768096" cy="76809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4800600" y="5541264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العصر: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العباسي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القصيدة: قواعد أبي تمام الأربع للحياة</a:t>
            </a:r>
            <a:endParaRPr lang="ar-SA" sz="3600" dirty="0"/>
          </a:p>
        </p:txBody>
      </p:sp>
      <p:pic>
        <p:nvPicPr>
          <p:cNvPr id="3" name="Image 0" descr="/tmp/claude-0/-home-user--/a6be5f54-c5fc-5152-81b5-e47355a16d24/scratchpad/art/deck/map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00200"/>
            <a:ext cx="6400800" cy="47267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89320" y="1819656"/>
            <a:ext cx="5669280" cy="950976"/>
          </a:xfrm>
          <a:prstGeom prst="roundRect">
            <a:avLst>
              <a:gd name="adj" fmla="val 50000"/>
            </a:avLst>
          </a:prstGeom>
          <a:solidFill>
            <a:srgbClr val="E4F0FF"/>
          </a:solidFill>
          <a:ln w="3175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172200" y="181965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3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بوصلة الأصدقاء (الأبيات 1-2)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الصاحب والوفاء.</a:t>
            </a:r>
            <a:endParaRPr lang="ar-SA" sz="2000" dirty="0"/>
          </a:p>
        </p:txBody>
      </p:sp>
      <p:sp>
        <p:nvSpPr>
          <p:cNvPr id="6" name="Shape 3"/>
          <p:cNvSpPr/>
          <p:nvPr/>
        </p:nvSpPr>
        <p:spPr>
          <a:xfrm>
            <a:off x="5989320" y="2953512"/>
            <a:ext cx="5669280" cy="950976"/>
          </a:xfrm>
          <a:prstGeom prst="roundRect">
            <a:avLst>
              <a:gd name="adj" fmla="val 50000"/>
            </a:avLst>
          </a:prstGeom>
          <a:solidFill>
            <a:srgbClr val="FFF1D0"/>
          </a:solidFill>
          <a:ln w="31750">
            <a:solidFill>
              <a:srgbClr val="F5A524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172200" y="2953512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3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منحنى المرونة (الأبيات 3-4)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الصبر على الشدائد.</a:t>
            </a:r>
            <a:endParaRPr lang="ar-SA" sz="2000" dirty="0"/>
          </a:p>
        </p:txBody>
      </p:sp>
      <p:sp>
        <p:nvSpPr>
          <p:cNvPr id="8" name="Shape 5"/>
          <p:cNvSpPr/>
          <p:nvPr/>
        </p:nvSpPr>
        <p:spPr>
          <a:xfrm>
            <a:off x="5989320" y="4078224"/>
            <a:ext cx="5669280" cy="950976"/>
          </a:xfrm>
          <a:prstGeom prst="roundRect">
            <a:avLst>
              <a:gd name="adj" fmla="val 50000"/>
            </a:avLst>
          </a:prstGeom>
          <a:solidFill>
            <a:srgbClr val="FFE6E1"/>
          </a:solidFill>
          <a:ln w="31750">
            <a:solidFill>
              <a:srgbClr val="F2665A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72200" y="4078224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3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الأقنعة المزيفة (البيت 5)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حقيقة المناصب والناس.</a:t>
            </a:r>
            <a:endParaRPr lang="ar-SA" sz="2000" dirty="0"/>
          </a:p>
        </p:txBody>
      </p:sp>
      <p:sp>
        <p:nvSpPr>
          <p:cNvPr id="10" name="Shape 7"/>
          <p:cNvSpPr/>
          <p:nvPr/>
        </p:nvSpPr>
        <p:spPr>
          <a:xfrm>
            <a:off x="5989320" y="5212080"/>
            <a:ext cx="5669280" cy="950976"/>
          </a:xfrm>
          <a:prstGeom prst="roundRect">
            <a:avLst>
              <a:gd name="adj" fmla="val 50000"/>
            </a:avLst>
          </a:prstGeom>
          <a:solidFill>
            <a:srgbClr val="DDF5E8"/>
          </a:solidFill>
          <a:ln w="31750">
            <a:solidFill>
              <a:srgbClr val="2FA36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72200" y="5212080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3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درع الروح (الأبيات 6-8)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الحياء يحمي الإنسان.</a:t>
            </a:r>
            <a:endParaRPr lang="ar-SA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art/deck/a_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الأولى: بوصلة الأصدقاء</a:t>
            </a:r>
            <a:endParaRPr lang="ar-SA" sz="4200" dirty="0"/>
          </a:p>
        </p:txBody>
      </p:sp>
      <p:pic>
        <p:nvPicPr>
          <p:cNvPr id="4" name="Image 1" descr="/tmp/claude-0/-home-user--/a6be5f54-c5fc-5152-81b5-e47355a16d24/scratchpad/art/deck/r1_b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417320"/>
            <a:ext cx="2920243" cy="3611880"/>
          </a:xfrm>
          <a:prstGeom prst="rect">
            <a:avLst/>
          </a:prstGeom>
        </p:spPr>
      </p:pic>
      <p:pic>
        <p:nvPicPr>
          <p:cNvPr id="5" name="Image 2" descr="/tmp/claude-0/-home-user--/a6be5f54-c5fc-5152-81b5-e47355a16d24/scratchpad/art/deck/r1_goo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2920243" cy="36118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412480" y="5166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21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البيت 1: </a:t>
            </a:r>
            <a:pPr algn="ctr" indent="0" marL="0">
              <a:lnSpc>
                <a:spcPct val="115000"/>
              </a:lnSpc>
              <a:buNone/>
            </a:pPr>
            <a:r>
              <a:rPr lang="ar-SA" altLang="en-US" sz="21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جاريت في خلق دنيئًا فأنت ومن تجاريه سواءُ</a:t>
            </a:r>
            <a:endParaRPr lang="ar-SA" sz="2100" dirty="0"/>
          </a:p>
        </p:txBody>
      </p:sp>
      <p:sp>
        <p:nvSpPr>
          <p:cNvPr id="7" name="Text 2"/>
          <p:cNvSpPr txBox="1"/>
          <p:nvPr/>
        </p:nvSpPr>
        <p:spPr>
          <a:xfrm>
            <a:off x="274320" y="5166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21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البيت 2: </a:t>
            </a:r>
            <a:pPr algn="ctr" indent="0" marL="0">
              <a:lnSpc>
                <a:spcPct val="115000"/>
              </a:lnSpc>
              <a:buNone/>
            </a:pPr>
            <a:r>
              <a:rPr lang="ar-SA" altLang="en-US" sz="21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رأيتُ الحرّ يجتنبُ المخازي ويحميه من الغدر الوفاءُ</a:t>
            </a:r>
            <a:endParaRPr lang="ar-SA" sz="2100" dirty="0"/>
          </a:p>
        </p:txBody>
      </p:sp>
      <p:sp>
        <p:nvSpPr>
          <p:cNvPr id="8" name="Shape 3"/>
          <p:cNvSpPr/>
          <p:nvPr/>
        </p:nvSpPr>
        <p:spPr>
          <a:xfrm>
            <a:off x="3794760" y="1463040"/>
            <a:ext cx="4526280" cy="4983480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4023360" y="1645920"/>
            <a:ext cx="4069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ar-SA" altLang="en-US" sz="24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الصديق السيئ كالعدوى؛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إذا سايرته (جاريت) ستصبح مثله. أما الإنسان الحر النبيل، فيبتعد عن العار (المخازي)، ويحميه وفاؤه من الخيانة. 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4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(المرء على دين خليله).</a:t>
            </a:r>
            <a:endParaRPr lang="ar-SA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2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مفاتيح الكلمات</a:t>
            </a:r>
            <a:endParaRPr lang="ar-SA" sz="5200" dirty="0"/>
          </a:p>
        </p:txBody>
      </p:sp>
      <p:pic>
        <p:nvPicPr>
          <p:cNvPr id="3" name="Image 0" descr="/tmp/claude-0/-home-user--/a6be5f54-c5fc-5152-81b5-e47355a16d24/scratchpad/art/deck/key_h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417320"/>
            <a:ext cx="1800225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8972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الغدر</a:t>
            </a:r>
            <a:endParaRPr lang="ar-SA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5440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244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الخيانة ونقض العهد</a:t>
            </a:r>
            <a:endParaRPr lang="ar-SA" sz="2100" dirty="0"/>
          </a:p>
        </p:txBody>
      </p:sp>
      <p:pic>
        <p:nvPicPr>
          <p:cNvPr id="6" name="Image 1" descr="/tmp/claude-0/-home-user--/a6be5f54-c5fc-5152-81b5-e47355a16d24/scratchpad/art/deck/key_m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417320"/>
            <a:ext cx="1800225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المخازي</a:t>
            </a:r>
            <a:endParaRPr lang="ar-SA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6355080" y="5440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244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يبعث على العار والخزي</a:t>
            </a:r>
            <a:endParaRPr lang="ar-SA" sz="2100" dirty="0"/>
          </a:p>
        </p:txBody>
      </p:sp>
      <p:pic>
        <p:nvPicPr>
          <p:cNvPr id="9" name="Image 2" descr="/tmp/claude-0/-home-user--/a6be5f54-c5fc-5152-81b5-e47355a16d24/scratchpad/art/deck/key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417320"/>
            <a:ext cx="1800225" cy="3200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61188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دنيئاً</a:t>
            </a:r>
            <a:endParaRPr lang="ar-SA" sz="3600" dirty="0"/>
          </a:p>
        </p:txBody>
      </p:sp>
      <p:sp>
        <p:nvSpPr>
          <p:cNvPr id="11" name="Text 6"/>
          <p:cNvSpPr txBox="1"/>
          <p:nvPr/>
        </p:nvSpPr>
        <p:spPr>
          <a:xfrm>
            <a:off x="3566160" y="5440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244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خسيسًا / سيء الخُلُق</a:t>
            </a:r>
            <a:endParaRPr lang="ar-SA" sz="2100" dirty="0"/>
          </a:p>
        </p:txBody>
      </p:sp>
      <p:pic>
        <p:nvPicPr>
          <p:cNvPr id="12" name="Image 3" descr="/tmp/claude-0/-home-user--/a6be5f54-c5fc-5152-81b5-e47355a16d24/scratchpad/art/deck/key_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1417320"/>
            <a:ext cx="1800225" cy="3200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2296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جارَيْتَ</a:t>
            </a:r>
            <a:endParaRPr lang="ar-SA" sz="3600" dirty="0"/>
          </a:p>
        </p:txBody>
      </p:sp>
      <p:sp>
        <p:nvSpPr>
          <p:cNvPr id="14" name="Text 8"/>
          <p:cNvSpPr txBox="1"/>
          <p:nvPr/>
        </p:nvSpPr>
        <p:spPr>
          <a:xfrm>
            <a:off x="777240" y="5440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244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سايرتَ</a:t>
            </a:r>
            <a:endParaRPr lang="ar-SA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l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فسّر المفردة من السياق</a:t>
            </a:r>
            <a:endParaRPr lang="ar-SA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اقرئي الجملة، ثم استنتجي معنى الكلمة الملوّنة من السياق، واختاري المعنى الصحيح.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10927080" y="192024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270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874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رفضت سلمى أن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تجاري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زميلاتها في السخرية من الطالبة الجديدة.</a:t>
            </a:r>
            <a:endParaRPr lang="ar-SA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926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3C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«تجاري» تعني:  أ) تسابق     ب) تسايِر وتوافق     ج) تعاتب</a:t>
            </a:r>
            <a:endParaRPr lang="ar-SA" sz="1700" dirty="0"/>
          </a:p>
        </p:txBody>
      </p:sp>
      <p:sp>
        <p:nvSpPr>
          <p:cNvPr id="11" name="Shape 8"/>
          <p:cNvSpPr/>
          <p:nvPr/>
        </p:nvSpPr>
        <p:spPr>
          <a:xfrm>
            <a:off x="5166360" y="192024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6636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874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ابتعد الشاب النبيل عن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المخازي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حفاظًا على سمعته.</a:t>
            </a:r>
            <a:endParaRPr lang="ar-SA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2926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3C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«المخازي» تعني:  أ) ما يبعث على العار والخزي     ب) المشاريع الناجحة     ج) الأماكن البعيدة</a:t>
            </a:r>
            <a:endParaRPr lang="ar-SA" sz="1700" dirty="0"/>
          </a:p>
        </p:txBody>
      </p:sp>
      <p:sp>
        <p:nvSpPr>
          <p:cNvPr id="15" name="Shape 12"/>
          <p:cNvSpPr/>
          <p:nvPr/>
        </p:nvSpPr>
        <p:spPr>
          <a:xfrm>
            <a:off x="10927080" y="406908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2708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23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الصديق سرّ صاحبه وأعلن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غدره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دون خجل.</a:t>
            </a:r>
            <a:endParaRPr lang="ar-SA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5074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3C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«الغدر» يعني:  أ) الوفاء بالعهد     ب) الخيانة ونقض العهد     ج) الصبر على الشدة</a:t>
            </a:r>
            <a:endParaRPr lang="ar-SA" sz="1700" dirty="0"/>
          </a:p>
        </p:txBody>
      </p:sp>
      <p:sp>
        <p:nvSpPr>
          <p:cNvPr id="19" name="Shape 16"/>
          <p:cNvSpPr/>
          <p:nvPr/>
        </p:nvSpPr>
        <p:spPr>
          <a:xfrm>
            <a:off x="5166360" y="406908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6636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023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تصاحبي من كان خُلُقه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دنيئًا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ولو كان لطيف المظهر.</a:t>
            </a:r>
            <a:endParaRPr lang="ar-SA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5074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3C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«دنيئًا» تعني:  أ) رفيعًا     ب) خسيسًا سيّئ الخُلُق     ج) قريبًا</a:t>
            </a:r>
            <a:endParaRPr lang="ar-SA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اختر الموقف الصحيح</a:t>
            </a:r>
            <a:endParaRPr lang="ar-SA" sz="4200" dirty="0"/>
          </a:p>
        </p:txBody>
      </p:sp>
      <p:pic>
        <p:nvPicPr>
          <p:cNvPr id="6" name="Image 1" descr="/tmp/claude-0/-home-user--/a6be5f54-c5fc-5152-81b5-e47355a16d24/scratchpad/art/deck/win_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2690037" cy="5029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840480" y="137160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22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الموقف: 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22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وصلت سلمى رسالة في مجموعة الصف: صورة مضحكة لزميلة جديدة، والجميع يعلّق عليها ساخرًا. ماذا تفعل سلمى؟</a:t>
            </a:r>
            <a:endParaRPr lang="ar-SA" sz="2200" dirty="0"/>
          </a:p>
        </p:txBody>
      </p:sp>
      <p:sp>
        <p:nvSpPr>
          <p:cNvPr id="8" name="Shape 4"/>
          <p:cNvSpPr/>
          <p:nvPr/>
        </p:nvSpPr>
        <p:spPr>
          <a:xfrm>
            <a:off x="10927080" y="2971800"/>
            <a:ext cx="731520" cy="731520"/>
          </a:xfrm>
          <a:prstGeom prst="ellipse">
            <a:avLst/>
          </a:prstGeom>
          <a:solidFill>
            <a:srgbClr val="F2665A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1092708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4023360" y="2971800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تكتب تعليقًا ساخرًا مثلهم حتى لا تبدو مختلفة.</a:t>
            </a:r>
            <a:endParaRPr lang="ar-SA" sz="2300" dirty="0"/>
          </a:p>
        </p:txBody>
      </p:sp>
      <p:sp>
        <p:nvSpPr>
          <p:cNvPr id="11" name="Shape 7"/>
          <p:cNvSpPr/>
          <p:nvPr/>
        </p:nvSpPr>
        <p:spPr>
          <a:xfrm>
            <a:off x="10927080" y="3840480"/>
            <a:ext cx="731520" cy="73152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1092708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3840480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ترفض المشاركة في السخرية، وتكتب للزميلة الجديدة كلمة طيبة.</a:t>
            </a:r>
            <a:endParaRPr lang="ar-SA" sz="2300" dirty="0"/>
          </a:p>
        </p:txBody>
      </p:sp>
      <p:sp>
        <p:nvSpPr>
          <p:cNvPr id="14" name="Shape 10"/>
          <p:cNvSpPr/>
          <p:nvPr/>
        </p:nvSpPr>
        <p:spPr>
          <a:xfrm>
            <a:off x="10927080" y="4709160"/>
            <a:ext cx="731520" cy="73152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1092708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4023360" y="4709160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تضحك بصمت وتنتظر لترى ماذا سيحدث.</a:t>
            </a:r>
            <a:endParaRPr lang="ar-SA" sz="2300" dirty="0"/>
          </a:p>
        </p:txBody>
      </p:sp>
      <p:sp>
        <p:nvSpPr>
          <p:cNvPr id="17" name="Shape 13"/>
          <p:cNvSpPr/>
          <p:nvPr/>
        </p:nvSpPr>
        <p:spPr>
          <a:xfrm>
            <a:off x="3840480" y="5715000"/>
            <a:ext cx="781812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023360" y="5715000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ناقشي مع مجموعتك: أي بيتٍ من القصيدة يناسب قرارك؟ ولماذا؟</a:t>
            </a:r>
            <a:endParaRPr lang="ar-SA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art/deck/a_s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الثانية: منحنى المرونة والتعافي</a:t>
            </a:r>
            <a:endParaRPr lang="ar-SA" sz="4000" dirty="0"/>
          </a:p>
        </p:txBody>
      </p:sp>
      <p:pic>
        <p:nvPicPr>
          <p:cNvPr id="4" name="Image 1" descr="/tmp/claude-0/-home-user--/a6be5f54-c5fc-5152-81b5-e47355a16d24/scratchpad/art/deck/r2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680960" cy="4169664"/>
          </a:xfrm>
          <a:prstGeom prst="rect">
            <a:avLst/>
          </a:prstGeom>
        </p:spPr>
      </p:pic>
      <p:pic>
        <p:nvPicPr>
          <p:cNvPr id="5" name="Image 2" descr="/tmp/claude-0/-home-user--/a6be5f54-c5fc-5152-81b5-e47355a16d24/scratchpad/art/deck/m_salmad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160520"/>
            <a:ext cx="1051560" cy="105156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229600" y="1691640"/>
            <a:ext cx="3429000" cy="1600200"/>
          </a:xfrm>
          <a:prstGeom prst="roundRect">
            <a:avLst>
              <a:gd name="adj" fmla="val 22857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7" name="Text 2"/>
          <p:cNvSpPr txBox="1"/>
          <p:nvPr/>
        </p:nvSpPr>
        <p:spPr>
          <a:xfrm>
            <a:off x="8321040" y="169164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من شدةٍ إلا سيأتي</a:t>
            </a:r>
            <a:endParaRPr lang="ar-SA" sz="1900" dirty="0"/>
          </a:p>
          <a:p>
            <a:pPr algn="ct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لها من بعد شدتها رخاء</a:t>
            </a:r>
            <a:endParaRPr lang="ar-SA" sz="1900" dirty="0"/>
          </a:p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(البيت 3)</a:t>
            </a:r>
            <a:endParaRPr lang="ar-SA" sz="1900" dirty="0"/>
          </a:p>
        </p:txBody>
      </p:sp>
      <p:sp>
        <p:nvSpPr>
          <p:cNvPr id="8" name="Shape 3"/>
          <p:cNvSpPr/>
          <p:nvPr/>
        </p:nvSpPr>
        <p:spPr>
          <a:xfrm>
            <a:off x="8229600" y="3520440"/>
            <a:ext cx="3429000" cy="1600200"/>
          </a:xfrm>
          <a:prstGeom prst="roundRect">
            <a:avLst>
              <a:gd name="adj" fmla="val 22857"/>
            </a:avLst>
          </a:prstGeom>
          <a:solidFill>
            <a:srgbClr val="FFD84D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8321040" y="352044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900" b="1" dirty="0">
                <a:solidFill>
                  <a:srgbClr val="4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لقد جربت هذا الدهر حتى</a:t>
            </a:r>
            <a:endParaRPr lang="ar-SA" sz="1900" dirty="0"/>
          </a:p>
          <a:p>
            <a:pPr algn="ctr" indent="0" marL="0">
              <a:buNone/>
            </a:pPr>
            <a:r>
              <a:rPr lang="ar-SA" altLang="en-US" sz="1900" b="1" dirty="0">
                <a:solidFill>
                  <a:srgbClr val="4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أفادتني التجارب والعناء</a:t>
            </a:r>
            <a:endParaRPr lang="ar-SA" sz="1900" dirty="0"/>
          </a:p>
          <a:p>
            <a:pPr algn="ctr" indent="0" marL="0">
              <a:buNone/>
            </a:pPr>
            <a:r>
              <a:rPr lang="ar-SA" altLang="en-US" sz="1700" b="1" dirty="0">
                <a:solidFill>
                  <a:srgbClr val="4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(البيت 4)</a:t>
            </a:r>
            <a:endParaRPr lang="ar-SA" sz="1900" dirty="0"/>
          </a:p>
        </p:txBody>
      </p:sp>
      <p:sp>
        <p:nvSpPr>
          <p:cNvPr id="10" name="Shape 5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777240" y="553212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توجد أزمة تستمر للأبد. </a:t>
            </a:r>
            <a:pPr algn="ctr" indent="0" marL="0">
              <a:buNone/>
            </a:pPr>
            <a:r>
              <a:rPr lang="ar-SA" altLang="en-US" sz="23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العسر يأتي بعده يسر.</a:t>
            </a:r>
            <a:pPr algn="ct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والتجارب الصعبة المتعبة (العناء) هي </a:t>
            </a:r>
            <a:pPr algn="ctr" indent="0" marL="0">
              <a:buNone/>
            </a:pPr>
            <a:r>
              <a:rPr lang="ar-SA" altLang="en-US" sz="23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مدرسة تصنع شخصيتك القوية.</a:t>
            </a:r>
            <a:endParaRPr lang="ar-SA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قارن بين موقفين</a:t>
            </a:r>
            <a:endParaRPr lang="ar-SA" sz="4200" dirty="0"/>
          </a:p>
        </p:txBody>
      </p:sp>
      <p:pic>
        <p:nvPicPr>
          <p:cNvPr id="6" name="Image 1" descr="/tmp/claude-0/-home-user--/a6be5f54-c5fc-5152-81b5-e47355a16d24/scratchpad/art/deck/m_s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463040"/>
            <a:ext cx="1508760" cy="1508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الموقف أ</a:t>
            </a:r>
            <a:endParaRPr lang="ar-SA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196596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حصلت جود على درجة منخفضة، فقالت: «أنا فاشلة ولن أحاول بعد اليوم!» وأخفت ورقتها.</a:t>
            </a:r>
            <a:endParaRPr lang="ar-SA" sz="1900" dirty="0"/>
          </a:p>
        </p:txBody>
      </p:sp>
      <p:pic>
        <p:nvPicPr>
          <p:cNvPr id="9" name="Image 2" descr="/tmp/claude-0/-home-user--/a6be5f54-c5fc-5152-81b5-e47355a16d24/scratchpad/art/deck/m_d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63040"/>
            <a:ext cx="1508760" cy="1508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الموقف ب</a:t>
            </a:r>
            <a:endParaRPr lang="ar-SA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حصلت ريم على الدرجة نفسها، فقالت: «هذه نتيجة اليوم لا نهاية الطريق» وراجعت أخطاءها.</a:t>
            </a:r>
            <a:endParaRPr lang="ar-SA" sz="1900" dirty="0"/>
          </a:p>
        </p:txBody>
      </p:sp>
      <p:sp>
        <p:nvSpPr>
          <p:cNvPr id="12" name="Shape 7"/>
          <p:cNvSpPr/>
          <p:nvPr/>
        </p:nvSpPr>
        <p:spPr>
          <a:xfrm>
            <a:off x="5788152" y="1920240"/>
            <a:ext cx="594360" cy="59436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5788152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ar-SA" sz="1600" dirty="0"/>
          </a:p>
        </p:txBody>
      </p:sp>
      <p:sp>
        <p:nvSpPr>
          <p:cNvPr id="14" name="Shape 9"/>
          <p:cNvSpPr/>
          <p:nvPr/>
        </p:nvSpPr>
        <p:spPr>
          <a:xfrm>
            <a:off x="11018520" y="370332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101852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الفرق بين ردّ فعل جود وردّ فعل ريم؟</a:t>
            </a:r>
            <a:endParaRPr lang="ar-SA" sz="2300" dirty="0"/>
          </a:p>
        </p:txBody>
      </p:sp>
      <p:sp>
        <p:nvSpPr>
          <p:cNvPr id="17" name="Shape 12"/>
          <p:cNvSpPr/>
          <p:nvPr/>
        </p:nvSpPr>
        <p:spPr>
          <a:xfrm>
            <a:off x="11018520" y="4599432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101852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45994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أيّهما طبّقت قول أبي تمام: «ما من شدةٍ إلا سيأتي لها من بعد شدتها رخاءُ»؟</a:t>
            </a:r>
            <a:endParaRPr lang="ar-SA" sz="2300" dirty="0"/>
          </a:p>
        </p:txBody>
      </p:sp>
      <p:sp>
        <p:nvSpPr>
          <p:cNvPr id="20" name="Shape 15"/>
          <p:cNvSpPr/>
          <p:nvPr/>
        </p:nvSpPr>
        <p:spPr>
          <a:xfrm>
            <a:off x="11018520" y="5495544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1018520" y="5495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549554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النصيحة التي تقدّمينها لجود؟</a:t>
            </a:r>
            <a:endParaRPr lang="ar-SA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art/deck/a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الثالثة: اختبار الأقنعة المزيفة</a:t>
            </a:r>
            <a:endParaRPr lang="ar-SA" sz="4000" dirty="0"/>
          </a:p>
        </p:txBody>
      </p:sp>
      <p:sp>
        <p:nvSpPr>
          <p:cNvPr id="4" name="Shape 1"/>
          <p:cNvSpPr/>
          <p:nvPr/>
        </p:nvSpPr>
        <p:spPr>
          <a:xfrm>
            <a:off x="1097280" y="1417320"/>
            <a:ext cx="9994392" cy="1005840"/>
          </a:xfrm>
          <a:prstGeom prst="roundRect">
            <a:avLst>
              <a:gd name="adj" fmla="val 45455"/>
            </a:avLst>
          </a:prstGeom>
          <a:solidFill>
            <a:srgbClr val="FFE08A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1280160" y="141732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b="1" dirty="0">
                <a:solidFill>
                  <a:srgbClr val="4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ما رأس أهل البيت ولّى بدا لهم من الناس الجفاءُ </a:t>
            </a:r>
            <a:pPr algn="ctr" indent="0" marL="0">
              <a:buNone/>
            </a:pPr>
            <a:r>
              <a:rPr lang="ar-SA" altLang="en-US" sz="2000" dirty="0">
                <a:solidFill>
                  <a:srgbClr val="4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(البيت 5)</a:t>
            </a:r>
            <a:endParaRPr lang="ar-SA" sz="2500" dirty="0"/>
          </a:p>
        </p:txBody>
      </p:sp>
      <p:pic>
        <p:nvPicPr>
          <p:cNvPr id="6" name="Image 1" descr="/tmp/claude-0/-home-user--/a6be5f54-c5fc-5152-81b5-e47355a16d24/scratchpad/art/deck/r3_thr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06040"/>
            <a:ext cx="6583680" cy="280903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223760" y="27432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«رأس أهل البيت»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← كناية عن المنصب، أو المال، أو الأب (المكانة).</a:t>
            </a:r>
            <a:endParaRPr lang="ar-SA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39776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«ولّى»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(اختفى وزال) ← ينتج عنه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«الجفاء»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(القسوة والابتعاد).</a:t>
            </a:r>
            <a:endParaRPr lang="ar-SA" sz="2100" dirty="0"/>
          </a:p>
        </p:txBody>
      </p:sp>
      <p:sp>
        <p:nvSpPr>
          <p:cNvPr id="9" name="Shape 5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31520" y="56235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احترام بعض الناس قد يكون لمنصبك أو مالك فقط، فإذا زالت النعمة، ظهر جفاؤهم.</a:t>
            </a:r>
            <a:endParaRPr lang="ar-SA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66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27432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موقف حياتي: ماذا ستفعلين لو كنتِ مكانها؟</a:t>
            </a:r>
            <a:endParaRPr lang="ar-SA" sz="3200" dirty="0"/>
          </a:p>
        </p:txBody>
      </p:sp>
      <p:sp>
        <p:nvSpPr>
          <p:cNvPr id="6" name="Shape 3"/>
          <p:cNvSpPr/>
          <p:nvPr/>
        </p:nvSpPr>
        <p:spPr>
          <a:xfrm rot="90000">
            <a:off x="6812280" y="1508760"/>
            <a:ext cx="4846320" cy="2468880"/>
          </a:xfrm>
          <a:prstGeom prst="rect">
            <a:avLst/>
          </a:prstGeom>
          <a:solidFill>
            <a:srgbClr val="FFF3B0"/>
          </a:solidFill>
          <a:ln/>
          <a:effectLst>
            <a:outerShdw sx="100000" sy="100000" kx="0" ky="0" algn="bl" rotWithShape="0" blurRad="127000" dist="38100" dir="5400000">
              <a:srgbClr val="1E2A3A">
                <a:alpha val="22000"/>
              </a:srgbClr>
            </a:outerShdw>
          </a:effectLst>
        </p:spPr>
      </p:sp>
      <p:pic>
        <p:nvPicPr>
          <p:cNvPr id="7" name="Image 1" descr="/tmp/claude-0/-home-user--/a6be5f54-c5fc-5152-81b5-e47355a16d24/scratchpad/art/deck/m_sm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325880"/>
            <a:ext cx="1234440" cy="1234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40880" y="18288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موقف:</a:t>
            </a:r>
            <a:endParaRPr lang="ar-SA" sz="19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تعاملت دانة مع سلمى بلطف زائد بعد أن أصبحت رئيسة الصف، وحين غابت سلمى سمعتها تسخر منها أمام زميلاتها.</a:t>
            </a:r>
            <a:endParaRPr lang="ar-SA" sz="1900" dirty="0"/>
          </a:p>
        </p:txBody>
      </p:sp>
      <p:pic>
        <p:nvPicPr>
          <p:cNvPr id="9" name="Image 2" descr="/tmp/claude-0/-home-user--/a6be5f54-c5fc-5152-81b5-e47355a16d24/scratchpad/art/deck/r3_mas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17320"/>
            <a:ext cx="2377440" cy="23774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018520" y="4206240"/>
            <a:ext cx="640080" cy="64008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110185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6172200" y="4206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القناع الذي ظهرت به دانة؟ وما حقيقتها؟</a:t>
            </a:r>
            <a:endParaRPr lang="ar-SA" sz="2000" dirty="0"/>
          </a:p>
        </p:txBody>
      </p:sp>
      <p:sp>
        <p:nvSpPr>
          <p:cNvPr id="13" name="Shape 8"/>
          <p:cNvSpPr/>
          <p:nvPr/>
        </p:nvSpPr>
        <p:spPr>
          <a:xfrm>
            <a:off x="11018520" y="5212080"/>
            <a:ext cx="640080" cy="64008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1101852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ستفعلين لو كنتِ مكان سلمى؟</a:t>
            </a:r>
            <a:endParaRPr lang="ar-SA" sz="2000" dirty="0"/>
          </a:p>
        </p:txBody>
      </p:sp>
      <p:sp>
        <p:nvSpPr>
          <p:cNvPr id="16" name="Shape 11"/>
          <p:cNvSpPr/>
          <p:nvPr/>
        </p:nvSpPr>
        <p:spPr>
          <a:xfrm>
            <a:off x="5394960" y="4206240"/>
            <a:ext cx="640080" cy="64008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39496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206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بيتٍ من القصيدة يناسب هذا الموقف؟ ولماذا؟</a:t>
            </a:r>
            <a:endParaRPr lang="ar-SA" sz="2000" dirty="0"/>
          </a:p>
        </p:txBody>
      </p:sp>
      <p:sp>
        <p:nvSpPr>
          <p:cNvPr id="19" name="Shape 14"/>
          <p:cNvSpPr/>
          <p:nvPr/>
        </p:nvSpPr>
        <p:spPr>
          <a:xfrm>
            <a:off x="5394960" y="5212080"/>
            <a:ext cx="640080" cy="64008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9496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نتعرف على الصديق الحقيقي؟</a:t>
            </a:r>
            <a:endParaRPr lang="ar-SA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art/deck/a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4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الرابعة والأهم: الحياء.. درع الروح</a:t>
            </a:r>
            <a:endParaRPr lang="ar-SA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3063240" y="15087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يعيش المرء ما استحيا بخير</a:t>
            </a:r>
            <a:endParaRPr lang="ar-SA" sz="2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ويبقى العود ما بقي اللحاءُ</a:t>
            </a:r>
            <a:endParaRPr lang="ar-SA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063240" y="267919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فلا والله ما في العيش خير</a:t>
            </a:r>
            <a:endParaRPr lang="ar-SA" sz="2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الدنيا إذا ذهب الحياءُ</a:t>
            </a:r>
            <a:endParaRPr lang="ar-SA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3063240" y="3849624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لم تخش عاقبة الليالي</a:t>
            </a:r>
            <a:endParaRPr lang="ar-SA" sz="2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ولم تستحِ فاصنع ما تشاءُ</a:t>
            </a:r>
            <a:endParaRPr lang="ar-SA" sz="2900" dirty="0"/>
          </a:p>
        </p:txBody>
      </p:sp>
      <p:sp>
        <p:nvSpPr>
          <p:cNvPr id="7" name="Shape 4"/>
          <p:cNvSpPr/>
          <p:nvPr/>
        </p:nvSpPr>
        <p:spPr>
          <a:xfrm>
            <a:off x="2834640" y="5074920"/>
            <a:ext cx="6537960" cy="1417320"/>
          </a:xfrm>
          <a:prstGeom prst="roundRect">
            <a:avLst>
              <a:gd name="adj" fmla="val 29032"/>
            </a:avLst>
          </a:prstGeom>
          <a:solidFill>
            <a:srgbClr val="F6B84B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017520" y="5074920"/>
            <a:ext cx="6172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اللحاء (قشر الشجرة).</a:t>
            </a:r>
            <a:endParaRPr lang="ar-SA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التشبيه البليغ: الإنسان بلا حياء الذي يمنعه عن الخطأ، تمامًا كالشجرة التي فقدت قشرتها فجفت وماتت!</a:t>
            </a:r>
            <a:endParaRPr lang="ar-SA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gav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اتخذ قرارك وعلّله</a:t>
            </a:r>
            <a:endParaRPr lang="ar-SA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37160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الاختبار يتبادل بعض الزملاء الإجابات خفيةً، ويقولون لسلمى: «الجميع يفعلها!»</a:t>
            </a:r>
            <a:endParaRPr lang="ar-SA" sz="2500" dirty="0"/>
          </a:p>
        </p:txBody>
      </p:sp>
      <p:pic>
        <p:nvPicPr>
          <p:cNvPr id="7" name="Image 1" descr="/tmp/claude-0/-home-user--/a6be5f54-c5fc-5152-81b5-e47355a16d24/scratchpad/art/deck/m_salmad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286000"/>
            <a:ext cx="1737360" cy="1737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flipH="1">
            <a:off x="3291840" y="3200400"/>
            <a:ext cx="1828800" cy="868680"/>
          </a:xfrm>
          <a:prstGeom prst="line">
            <a:avLst/>
          </a:prstGeom>
          <a:noFill/>
          <a:ln w="50800">
            <a:solidFill>
              <a:srgbClr val="2FA36B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7040880" y="3200400"/>
            <a:ext cx="1828800" cy="868680"/>
          </a:xfrm>
          <a:prstGeom prst="line">
            <a:avLst/>
          </a:prstGeom>
          <a:noFill/>
          <a:ln w="50800">
            <a:solidFill>
              <a:srgbClr val="F2665A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7863840" y="4114800"/>
            <a:ext cx="3749040" cy="2148840"/>
          </a:xfrm>
          <a:prstGeom prst="roundRect">
            <a:avLst>
              <a:gd name="adj" fmla="val 17021"/>
            </a:avLst>
          </a:prstGeom>
          <a:solidFill>
            <a:srgbClr val="FFE6E1"/>
          </a:solidFill>
          <a:ln w="38100">
            <a:solidFill>
              <a:srgbClr val="F2665A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046720" y="41148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(أ): أشاركهم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النتيجة القريبة؟ وما النتيجة البعيدة؟</a:t>
            </a:r>
            <a:endParaRPr lang="ar-SA" sz="2000" dirty="0"/>
          </a:p>
        </p:txBody>
      </p:sp>
      <p:sp>
        <p:nvSpPr>
          <p:cNvPr id="12" name="Shape 8"/>
          <p:cNvSpPr/>
          <p:nvPr/>
        </p:nvSpPr>
        <p:spPr>
          <a:xfrm>
            <a:off x="8138160" y="5577840"/>
            <a:ext cx="320040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3" name="Shape 9"/>
          <p:cNvSpPr/>
          <p:nvPr/>
        </p:nvSpPr>
        <p:spPr>
          <a:xfrm>
            <a:off x="8138160" y="5989320"/>
            <a:ext cx="320040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4" name="Shape 10"/>
          <p:cNvSpPr/>
          <p:nvPr/>
        </p:nvSpPr>
        <p:spPr>
          <a:xfrm>
            <a:off x="576072" y="4114800"/>
            <a:ext cx="3749040" cy="2148840"/>
          </a:xfrm>
          <a:prstGeom prst="roundRect">
            <a:avLst>
              <a:gd name="adj" fmla="val 17021"/>
            </a:avLst>
          </a:prstGeom>
          <a:solidFill>
            <a:srgbClr val="DDF5E8"/>
          </a:solidFill>
          <a:ln w="38100">
            <a:solidFill>
              <a:srgbClr val="2FA36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58952" y="41148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(ب): أمتنع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النتيجة القريبة؟ وما النتيجة البعيدة؟</a:t>
            </a:r>
            <a:endParaRPr lang="ar-SA" sz="2000" dirty="0"/>
          </a:p>
        </p:txBody>
      </p:sp>
      <p:sp>
        <p:nvSpPr>
          <p:cNvPr id="16" name="Shape 12"/>
          <p:cNvSpPr/>
          <p:nvPr/>
        </p:nvSpPr>
        <p:spPr>
          <a:xfrm>
            <a:off x="850392" y="5577840"/>
            <a:ext cx="320040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7" name="Shape 13"/>
          <p:cNvSpPr/>
          <p:nvPr/>
        </p:nvSpPr>
        <p:spPr>
          <a:xfrm>
            <a:off x="850392" y="5989320"/>
            <a:ext cx="320040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8" name="Text 14"/>
          <p:cNvSpPr txBox="1"/>
          <p:nvPr/>
        </p:nvSpPr>
        <p:spPr>
          <a:xfrm>
            <a:off x="4434840" y="46177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4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قرّري ثم علّلي</a:t>
            </a:r>
            <a:endParaRPr lang="ar-SA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بدليل من أبيات الحياء</a:t>
            </a:r>
            <a:endParaRPr lang="ar-SA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أسرار الصنعة: مصفوفة الجماليات البلاغية</a:t>
            </a:r>
            <a:endParaRPr lang="ar-SA" sz="4200" dirty="0"/>
          </a:p>
        </p:txBody>
      </p:sp>
      <p:sp>
        <p:nvSpPr>
          <p:cNvPr id="3" name="Shape 1"/>
          <p:cNvSpPr/>
          <p:nvPr/>
        </p:nvSpPr>
        <p:spPr>
          <a:xfrm>
            <a:off x="8092440" y="1783080"/>
            <a:ext cx="3520440" cy="4709160"/>
          </a:xfrm>
          <a:prstGeom prst="roundRect">
            <a:avLst>
              <a:gd name="adj" fmla="val 14286"/>
            </a:avLst>
          </a:prstGeom>
          <a:solidFill>
            <a:srgbClr val="E4F0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4" name="Image 0" descr="/tmp/claude-0/-home-user--/a6be5f54-c5fc-5152-81b5-e47355a16d24/scratchpad/art/deck/rh_tashbi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5087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092440" y="3063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4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التشبيه</a:t>
            </a:r>
            <a:endParaRPr lang="ar-SA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(الرسم بالكلمات)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41605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المثال: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«يبقى العود ما بقي اللحاء».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تجسيد الفكرة المجردة (أهمية الحياء) بصورة ملموسة (قشرة الشجرة).</a:t>
            </a:r>
            <a:endParaRPr lang="ar-SA" sz="1900" dirty="0"/>
          </a:p>
        </p:txBody>
      </p:sp>
      <p:sp>
        <p:nvSpPr>
          <p:cNvPr id="8" name="Shape 5"/>
          <p:cNvSpPr/>
          <p:nvPr/>
        </p:nvSpPr>
        <p:spPr>
          <a:xfrm>
            <a:off x="4343400" y="1783080"/>
            <a:ext cx="3520440" cy="4709160"/>
          </a:xfrm>
          <a:prstGeom prst="roundRect">
            <a:avLst>
              <a:gd name="adj" fmla="val 14286"/>
            </a:avLst>
          </a:prstGeom>
          <a:solidFill>
            <a:srgbClr val="FFF1D0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9" name="Image 1" descr="/tmp/claude-0/-home-user--/a6be5f54-c5fc-5152-81b5-e47355a16d24/scratchpad/art/deck/rh_kinay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08760"/>
            <a:ext cx="1463040" cy="1463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3063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4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الكناية</a:t>
            </a:r>
            <a:endParaRPr lang="ar-SA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(المعنى المخفي)</a:t>
            </a:r>
            <a:endParaRPr lang="ar-SA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1605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المثال: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«رأس أهل البيت».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التعبير عن المنصب والمكانة بشكل غير مباشر وذكي.</a:t>
            </a:r>
            <a:endParaRPr lang="ar-SA" sz="1900" dirty="0"/>
          </a:p>
        </p:txBody>
      </p:sp>
      <p:sp>
        <p:nvSpPr>
          <p:cNvPr id="13" name="Shape 9"/>
          <p:cNvSpPr/>
          <p:nvPr/>
        </p:nvSpPr>
        <p:spPr>
          <a:xfrm>
            <a:off x="594360" y="1783080"/>
            <a:ext cx="3520440" cy="4709160"/>
          </a:xfrm>
          <a:prstGeom prst="roundRect">
            <a:avLst>
              <a:gd name="adj" fmla="val 14286"/>
            </a:avLst>
          </a:prstGeom>
          <a:solidFill>
            <a:srgbClr val="DDF5E8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14" name="Image 2" descr="/tmp/claude-0/-home-user--/a6be5f54-c5fc-5152-81b5-e47355a16d24/scratchpad/art/deck/rh_tibaq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508760"/>
            <a:ext cx="1463040" cy="1463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94360" y="3063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4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الطباق</a:t>
            </a:r>
            <a:endParaRPr lang="ar-SA" sz="3400" dirty="0"/>
          </a:p>
        </p:txBody>
      </p:sp>
      <p:sp>
        <p:nvSpPr>
          <p:cNvPr id="16" name="Text 11"/>
          <p:cNvSpPr txBox="1"/>
          <p:nvPr/>
        </p:nvSpPr>
        <p:spPr>
          <a:xfrm>
            <a:off x="59436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(الكلمة وضدها)</a:t>
            </a:r>
            <a:endParaRPr lang="ar-SA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1605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الأمثلة: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الشدة × الرخاء | الغدر × الوفاء.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إبراز المعنى وتوضيحه بالمقارنة.</a:t>
            </a:r>
            <a:endParaRPr lang="ar-SA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D18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استخرج الصورة البلاغية</a:t>
            </a:r>
            <a:endParaRPr lang="ar-SA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حدّدي نوع الصورة (تشبيه / كناية / طباق) ثم اشرحي أثرها في المعنى.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11018520" y="2057400"/>
            <a:ext cx="640080" cy="640080"/>
          </a:xfrm>
          <a:prstGeom prst="ellipse">
            <a:avLst/>
          </a:prstGeom>
          <a:solidFill>
            <a:srgbClr val="D18B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0185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011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«يبقى العود ما بقي اللحاءُ»</a:t>
            </a:r>
            <a:endParaRPr lang="ar-SA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نوعها:</a:t>
            </a:r>
            <a:endParaRPr lang="ar-SA" sz="1800" dirty="0"/>
          </a:p>
        </p:txBody>
      </p:sp>
      <p:sp>
        <p:nvSpPr>
          <p:cNvPr id="11" name="Shape 8"/>
          <p:cNvSpPr/>
          <p:nvPr/>
        </p:nvSpPr>
        <p:spPr>
          <a:xfrm>
            <a:off x="3154680" y="2633472"/>
            <a:ext cx="141732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2" name="Text 9"/>
          <p:cNvSpPr txBox="1"/>
          <p:nvPr/>
        </p:nvSpPr>
        <p:spPr>
          <a:xfrm>
            <a:off x="228600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أثرها:</a:t>
            </a:r>
            <a:endParaRPr lang="ar-SA" sz="1800" dirty="0"/>
          </a:p>
        </p:txBody>
      </p:sp>
      <p:sp>
        <p:nvSpPr>
          <p:cNvPr id="13" name="Shape 10"/>
          <p:cNvSpPr/>
          <p:nvPr/>
        </p:nvSpPr>
        <p:spPr>
          <a:xfrm>
            <a:off x="502920" y="2633472"/>
            <a:ext cx="178308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4" name="Shape 11"/>
          <p:cNvSpPr/>
          <p:nvPr/>
        </p:nvSpPr>
        <p:spPr>
          <a:xfrm>
            <a:off x="11018520" y="3136392"/>
            <a:ext cx="640080" cy="640080"/>
          </a:xfrm>
          <a:prstGeom prst="ellipse">
            <a:avLst/>
          </a:prstGeom>
          <a:solidFill>
            <a:srgbClr val="D18B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18520" y="3136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09067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 ما رأس أهل البيت ولّى»</a:t>
            </a:r>
            <a:endParaRPr lang="ar-SA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3273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نوعها:</a:t>
            </a:r>
            <a:endParaRPr lang="ar-SA" sz="1800" dirty="0"/>
          </a:p>
        </p:txBody>
      </p:sp>
      <p:sp>
        <p:nvSpPr>
          <p:cNvPr id="18" name="Shape 15"/>
          <p:cNvSpPr/>
          <p:nvPr/>
        </p:nvSpPr>
        <p:spPr>
          <a:xfrm>
            <a:off x="3154680" y="3712464"/>
            <a:ext cx="141732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9" name="Text 16"/>
          <p:cNvSpPr txBox="1"/>
          <p:nvPr/>
        </p:nvSpPr>
        <p:spPr>
          <a:xfrm>
            <a:off x="2286000" y="32735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أثرها: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502920" y="3712464"/>
            <a:ext cx="178308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21" name="Shape 18"/>
          <p:cNvSpPr/>
          <p:nvPr/>
        </p:nvSpPr>
        <p:spPr>
          <a:xfrm>
            <a:off x="11018520" y="4215384"/>
            <a:ext cx="640080" cy="640080"/>
          </a:xfrm>
          <a:prstGeom prst="ellipse">
            <a:avLst/>
          </a:prstGeom>
          <a:solidFill>
            <a:srgbClr val="D18B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018520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4169664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«رأيتُ الحرّ يجتنبُ المخازي ويحميه من الغدر الوفاءُ»</a:t>
            </a:r>
            <a:endParaRPr lang="ar-SA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4352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نوعها: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3154680" y="4791456"/>
            <a:ext cx="141732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26" name="Text 23"/>
          <p:cNvSpPr txBox="1"/>
          <p:nvPr/>
        </p:nvSpPr>
        <p:spPr>
          <a:xfrm>
            <a:off x="2286000" y="43525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أثرها: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502920" y="4791456"/>
            <a:ext cx="178308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28" name="Shape 25"/>
          <p:cNvSpPr/>
          <p:nvPr/>
        </p:nvSpPr>
        <p:spPr>
          <a:xfrm>
            <a:off x="11018520" y="5294376"/>
            <a:ext cx="640080" cy="640080"/>
          </a:xfrm>
          <a:prstGeom prst="ellipse">
            <a:avLst/>
          </a:prstGeom>
          <a:solidFill>
            <a:srgbClr val="D18B0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1018520" y="5294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0" y="524865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«ما من شدةٍ إلا سيأتي لها من بعد شدتها رخاءُ»</a:t>
            </a:r>
            <a:endParaRPr lang="ar-SA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4526280" y="54315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نوعها:</a:t>
            </a:r>
            <a:endParaRPr lang="ar-SA" sz="1800" dirty="0"/>
          </a:p>
        </p:txBody>
      </p:sp>
      <p:sp>
        <p:nvSpPr>
          <p:cNvPr id="32" name="Shape 29"/>
          <p:cNvSpPr/>
          <p:nvPr/>
        </p:nvSpPr>
        <p:spPr>
          <a:xfrm>
            <a:off x="3154680" y="5870448"/>
            <a:ext cx="141732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33" name="Text 30"/>
          <p:cNvSpPr txBox="1"/>
          <p:nvPr/>
        </p:nvSpPr>
        <p:spPr>
          <a:xfrm>
            <a:off x="2286000" y="54315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أثرها: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502920" y="5870448"/>
            <a:ext cx="178308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FF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نافذة على الواقع: حكمة أبي تمام في عالمنا المعاصر</a:t>
            </a:r>
            <a:endParaRPr lang="ar-SA" sz="3400" dirty="0"/>
          </a:p>
        </p:txBody>
      </p:sp>
      <p:pic>
        <p:nvPicPr>
          <p:cNvPr id="3" name="Image 0" descr="/tmp/claude-0/-home-user--/a6be5f54-c5fc-5152-81b5-e47355a16d24/scratchpad/art/deck/win_sc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103120"/>
            <a:ext cx="1796288" cy="3108960"/>
          </a:xfrm>
          <a:prstGeom prst="rect">
            <a:avLst/>
          </a:prstGeom>
        </p:spPr>
      </p:pic>
      <p:pic>
        <p:nvPicPr>
          <p:cNvPr id="4" name="Image 1" descr="/tmp/claude-0/-home-user--/a6be5f54-c5fc-5152-81b5-e47355a16d24/scratchpad/art/deck/win_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20240"/>
            <a:ext cx="2103120" cy="3931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51760" y="1554480"/>
            <a:ext cx="7406640" cy="146304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0" y="1554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القصيدة: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«جاريت في خلق دنيئاً»</a:t>
            </a:r>
            <a:endParaRPr lang="ar-SA" sz="1900" dirty="0"/>
          </a:p>
        </p:txBody>
      </p:sp>
      <p:pic>
        <p:nvPicPr>
          <p:cNvPr id="7" name="Image 2" descr="/tmp/claude-0/-home-user--/a6be5f54-c5fc-5152-81b5-e47355a16d24/scratchpad/art/deck/w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011680"/>
            <a:ext cx="548640" cy="5486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88920" y="155448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b="1" dirty="0">
                <a:solidFill>
                  <a:srgbClr val="8F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المعاصر:</a:t>
            </a:r>
            <a:endParaRPr lang="ar-SA" sz="17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التواجد في مجموعات الواتساب السلبية أو مرافقة المتنمرين.</a:t>
            </a:r>
            <a:endParaRPr lang="ar-SA" sz="1700" dirty="0"/>
          </a:p>
        </p:txBody>
      </p:sp>
      <p:sp>
        <p:nvSpPr>
          <p:cNvPr id="9" name="Shape 4"/>
          <p:cNvSpPr/>
          <p:nvPr/>
        </p:nvSpPr>
        <p:spPr>
          <a:xfrm>
            <a:off x="2651760" y="3200400"/>
            <a:ext cx="7406640" cy="146304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7315200" y="32004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القصيدة: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«من بعد شدتها رخاء»</a:t>
            </a:r>
            <a:endParaRPr lang="ar-SA" sz="1900" dirty="0"/>
          </a:p>
        </p:txBody>
      </p:sp>
      <p:pic>
        <p:nvPicPr>
          <p:cNvPr id="11" name="Image 3" descr="/tmp/claude-0/-home-user--/a6be5f54-c5fc-5152-81b5-e47355a16d24/scratchpad/art/deck/w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657600"/>
            <a:ext cx="548640" cy="5486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788920" y="320040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b="1" dirty="0">
                <a:solidFill>
                  <a:srgbClr val="8F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المعاصر:</a:t>
            </a:r>
            <a:endParaRPr lang="ar-SA" sz="17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الحصول على درجة سيئة ليس نهاية العالم، المحاولة القادمة ستكون أفضل.</a:t>
            </a:r>
            <a:endParaRPr lang="ar-SA" sz="1700" dirty="0"/>
          </a:p>
        </p:txBody>
      </p:sp>
      <p:sp>
        <p:nvSpPr>
          <p:cNvPr id="13" name="Shape 7"/>
          <p:cNvSpPr/>
          <p:nvPr/>
        </p:nvSpPr>
        <p:spPr>
          <a:xfrm>
            <a:off x="2651760" y="4846320"/>
            <a:ext cx="7406640" cy="146304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7315200" y="48463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القصيدة: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«يعيش المرء ما استحيا بخير»</a:t>
            </a:r>
            <a:endParaRPr lang="ar-SA" sz="1900" dirty="0"/>
          </a:p>
        </p:txBody>
      </p:sp>
      <p:pic>
        <p:nvPicPr>
          <p:cNvPr id="15" name="Image 4" descr="/tmp/claude-0/-home-user--/a6be5f54-c5fc-5152-81b5-e47355a16d24/scratchpad/art/deck/w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530352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788920" y="48463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b="1" dirty="0">
                <a:solidFill>
                  <a:srgbClr val="8F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المعاصر:</a:t>
            </a:r>
            <a:endParaRPr lang="ar-SA" sz="17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بصمتك الرقمية، تعليقاتك على وسائل التواصل، واحترامك لزملائك ومعلميك هي لحاء شجرتك.</a:t>
            </a:r>
            <a:endParaRPr lang="ar-SA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7A5A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صِل البيت الشعري بالموقف المناسب</a:t>
            </a:r>
            <a:endParaRPr lang="ar-SA" sz="3200" dirty="0"/>
          </a:p>
        </p:txBody>
      </p:sp>
      <p:sp>
        <p:nvSpPr>
          <p:cNvPr id="6" name="Shape 3"/>
          <p:cNvSpPr/>
          <p:nvPr/>
        </p:nvSpPr>
        <p:spPr>
          <a:xfrm>
            <a:off x="11018520" y="1645920"/>
            <a:ext cx="640080" cy="640080"/>
          </a:xfrm>
          <a:prstGeom prst="ellipse">
            <a:avLst/>
          </a:prstGeom>
          <a:solidFill>
            <a:srgbClr val="7A5AE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18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554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جاريت في خلق دنيئًا فأنت ومن تجاريه سواءُ</a:t>
            </a:r>
            <a:endParaRPr lang="ar-SA" sz="20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274320" cy="274320"/>
          </a:xfrm>
          <a:prstGeom prst="ellipse">
            <a:avLst/>
          </a:prstGeom>
          <a:solidFill>
            <a:srgbClr val="7A5A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965960"/>
            <a:ext cx="1508760" cy="0"/>
          </a:xfrm>
          <a:prstGeom prst="line">
            <a:avLst/>
          </a:prstGeom>
          <a:noFill/>
          <a:ln w="25400">
            <a:solidFill>
              <a:srgbClr val="7A5AE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343400" y="1828800"/>
            <a:ext cx="274320" cy="274320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164592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576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554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رسبت ليلى في اختبار الرياضيات، لكنها راجعت دروسها ونجحت في المحاولة التالية.</a:t>
            </a:r>
            <a:endParaRPr lang="ar-SA" sz="1500" dirty="0"/>
          </a:p>
        </p:txBody>
      </p:sp>
      <p:sp>
        <p:nvSpPr>
          <p:cNvPr id="15" name="Shape 12"/>
          <p:cNvSpPr/>
          <p:nvPr/>
        </p:nvSpPr>
        <p:spPr>
          <a:xfrm>
            <a:off x="11018520" y="2834640"/>
            <a:ext cx="640080" cy="640080"/>
          </a:xfrm>
          <a:prstGeom prst="ellipse">
            <a:avLst/>
          </a:prstGeom>
          <a:solidFill>
            <a:srgbClr val="7A5AE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185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27432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من شدةٍ إلا سيأتي لها من بعد شدتها رخاءُ</a:t>
            </a:r>
            <a:endParaRPr lang="ar-SA" sz="2000" dirty="0"/>
          </a:p>
        </p:txBody>
      </p:sp>
      <p:sp>
        <p:nvSpPr>
          <p:cNvPr id="18" name="Shape 15"/>
          <p:cNvSpPr/>
          <p:nvPr/>
        </p:nvSpPr>
        <p:spPr>
          <a:xfrm>
            <a:off x="6217920" y="3017520"/>
            <a:ext cx="274320" cy="274320"/>
          </a:xfrm>
          <a:prstGeom prst="ellipse">
            <a:avLst/>
          </a:prstGeom>
          <a:solidFill>
            <a:srgbClr val="7A5A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154680"/>
            <a:ext cx="1508760" cy="0"/>
          </a:xfrm>
          <a:prstGeom prst="line">
            <a:avLst/>
          </a:prstGeom>
          <a:noFill/>
          <a:ln w="25400">
            <a:solidFill>
              <a:srgbClr val="7A5AE0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4343400" y="3017520"/>
            <a:ext cx="274320" cy="274320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0" y="283464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6576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امتنع طالب عن الغش رغم سهولته لأنه يستحي من فعل الخطأ.</a:t>
            </a:r>
            <a:endParaRPr lang="ar-SA" sz="1500" dirty="0"/>
          </a:p>
        </p:txBody>
      </p:sp>
      <p:sp>
        <p:nvSpPr>
          <p:cNvPr id="24" name="Shape 21"/>
          <p:cNvSpPr/>
          <p:nvPr/>
        </p:nvSpPr>
        <p:spPr>
          <a:xfrm>
            <a:off x="11018520" y="4023360"/>
            <a:ext cx="640080" cy="640080"/>
          </a:xfrm>
          <a:prstGeom prst="ellipse">
            <a:avLst/>
          </a:prstGeom>
          <a:solidFill>
            <a:srgbClr val="7A5AE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018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39319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ما رأس أهل البيت ولّى بدا لهم من الناس الجفاءُ</a:t>
            </a:r>
            <a:endParaRPr lang="ar-SA" sz="2000" dirty="0"/>
          </a:p>
        </p:txBody>
      </p:sp>
      <p:sp>
        <p:nvSpPr>
          <p:cNvPr id="27" name="Shape 24"/>
          <p:cNvSpPr/>
          <p:nvPr/>
        </p:nvSpPr>
        <p:spPr>
          <a:xfrm>
            <a:off x="6217920" y="4206240"/>
            <a:ext cx="274320" cy="274320"/>
          </a:xfrm>
          <a:prstGeom prst="ellipse">
            <a:avLst/>
          </a:prstGeom>
          <a:solidFill>
            <a:srgbClr val="7A5A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4343400"/>
            <a:ext cx="1508760" cy="0"/>
          </a:xfrm>
          <a:prstGeom prst="line">
            <a:avLst/>
          </a:prstGeom>
          <a:noFill/>
          <a:ln w="25400">
            <a:solidFill>
              <a:srgbClr val="7A5AE0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4343400" y="4206240"/>
            <a:ext cx="274320" cy="274320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57600" y="402336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6576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3931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انضمّ أحمد إلى جماعة تسخر من الآخرين، فصار يسخر مثلهم.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11018520" y="5212080"/>
            <a:ext cx="640080" cy="640080"/>
          </a:xfrm>
          <a:prstGeom prst="ellipse">
            <a:avLst/>
          </a:prstGeom>
          <a:solidFill>
            <a:srgbClr val="7A5AE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101852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51206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يعيش المرء ما استحيا بخير ويبقى العود ما بقي اللحاءُ</a:t>
            </a:r>
            <a:endParaRPr lang="ar-SA" sz="2000" dirty="0"/>
          </a:p>
        </p:txBody>
      </p:sp>
      <p:sp>
        <p:nvSpPr>
          <p:cNvPr id="36" name="Shape 33"/>
          <p:cNvSpPr/>
          <p:nvPr/>
        </p:nvSpPr>
        <p:spPr>
          <a:xfrm>
            <a:off x="6217920" y="5394960"/>
            <a:ext cx="274320" cy="274320"/>
          </a:xfrm>
          <a:prstGeom prst="ellipse">
            <a:avLst/>
          </a:prstGeom>
          <a:solidFill>
            <a:srgbClr val="7A5A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63440" y="5532120"/>
            <a:ext cx="1508760" cy="0"/>
          </a:xfrm>
          <a:prstGeom prst="line">
            <a:avLst/>
          </a:prstGeom>
          <a:noFill/>
          <a:ln w="25400">
            <a:solidFill>
              <a:srgbClr val="7A5AE0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4343400" y="5394960"/>
            <a:ext cx="274320" cy="274320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657600" y="521208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65760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51206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تعامل الجميع مع المدير باحترام كبير، وحين ترك منصبه لم يسأل عنه أحد.</a:t>
            </a:r>
            <a:endParaRPr lang="ar-SA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l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B3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اكتشف الحكمة</a:t>
            </a:r>
            <a:endParaRPr lang="ar-SA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قاعدة من القواعد الأربع تختبئ خلف كل موقف؟ اختاري الرمز المناسب.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10927080" y="2057400"/>
            <a:ext cx="566928" cy="566928"/>
          </a:xfrm>
          <a:prstGeom prst="ellipse">
            <a:avLst/>
          </a:prstGeom>
          <a:solidFill>
            <a:srgbClr val="E079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270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965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أخبرتها صديقتها سرًّا، فنشرته في المجموعة ليضحك الجميع.</a:t>
            </a:r>
            <a:endParaRPr lang="ar-SA" sz="2100" dirty="0"/>
          </a:p>
        </p:txBody>
      </p:sp>
      <p:sp>
        <p:nvSpPr>
          <p:cNvPr id="10" name="Shape 7"/>
          <p:cNvSpPr/>
          <p:nvPr/>
        </p:nvSpPr>
        <p:spPr>
          <a:xfrm>
            <a:off x="5166360" y="2057400"/>
            <a:ext cx="566928" cy="566928"/>
          </a:xfrm>
          <a:prstGeom prst="ellipse">
            <a:avLst/>
          </a:prstGeom>
          <a:solidFill>
            <a:srgbClr val="E0792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663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965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تعثّر فريقهم في المسابقة، فاجتمعوا لتصحيح أخطائهم ثم فازوا في الجولة التالية.</a:t>
            </a:r>
            <a:endParaRPr lang="ar-SA" sz="2100" dirty="0"/>
          </a:p>
        </p:txBody>
      </p:sp>
      <p:sp>
        <p:nvSpPr>
          <p:cNvPr id="13" name="Shape 10"/>
          <p:cNvSpPr/>
          <p:nvPr/>
        </p:nvSpPr>
        <p:spPr>
          <a:xfrm>
            <a:off x="10927080" y="3520440"/>
            <a:ext cx="566928" cy="566928"/>
          </a:xfrm>
          <a:prstGeom prst="ellipse">
            <a:avLst/>
          </a:prstGeom>
          <a:solidFill>
            <a:srgbClr val="E079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270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كان زميلهم يمدحهم في حضورهم، لكنه ينتقدهم بقسوة حين يغيبون.</a:t>
            </a:r>
            <a:endParaRPr lang="ar-SA" sz="2100" dirty="0"/>
          </a:p>
        </p:txBody>
      </p:sp>
      <p:sp>
        <p:nvSpPr>
          <p:cNvPr id="16" name="Shape 13"/>
          <p:cNvSpPr/>
          <p:nvPr/>
        </p:nvSpPr>
        <p:spPr>
          <a:xfrm>
            <a:off x="5166360" y="3520440"/>
            <a:ext cx="566928" cy="566928"/>
          </a:xfrm>
          <a:prstGeom prst="ellipse">
            <a:avLst/>
          </a:prstGeom>
          <a:solidFill>
            <a:srgbClr val="E0792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6636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رفض أن يكتب كلمة جارحة في التعليقات لأنه يستحي من أذى الآخرين.</a:t>
            </a:r>
            <a:endParaRPr lang="ar-SA" sz="2100" dirty="0"/>
          </a:p>
        </p:txBody>
      </p:sp>
      <p:pic>
        <p:nvPicPr>
          <p:cNvPr id="19" name="Image 1" descr="/tmp/claude-0/-home-user--/a6be5f54-c5fc-5152-81b5-e47355a16d24/scratchpad/art/deck/a_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4892040"/>
            <a:ext cx="1051560" cy="10515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61120" y="5989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بوصلة الأصدقاء</a:t>
            </a:r>
            <a:endParaRPr lang="ar-SA" sz="1900" dirty="0"/>
          </a:p>
        </p:txBody>
      </p:sp>
      <p:pic>
        <p:nvPicPr>
          <p:cNvPr id="21" name="Image 2" descr="/tmp/claude-0/-home-user--/a6be5f54-c5fc-5152-81b5-e47355a16d24/scratchpad/art/deck/a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892040"/>
            <a:ext cx="1051560" cy="10515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17920" y="5989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منحنى المرونة</a:t>
            </a:r>
            <a:endParaRPr lang="ar-SA" sz="1900" dirty="0"/>
          </a:p>
        </p:txBody>
      </p:sp>
      <p:pic>
        <p:nvPicPr>
          <p:cNvPr id="23" name="Image 3" descr="/tmp/claude-0/-home-user--/a6be5f54-c5fc-5152-81b5-e47355a16d24/scratchpad/art/deck/a_m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892040"/>
            <a:ext cx="1051560" cy="10515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474720" y="5989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الأقنعة المزيفة</a:t>
            </a:r>
            <a:endParaRPr lang="ar-SA" sz="1900" dirty="0"/>
          </a:p>
        </p:txBody>
      </p:sp>
      <p:pic>
        <p:nvPicPr>
          <p:cNvPr id="25" name="Image 4" descr="/tmp/claude-0/-home-user--/a6be5f54-c5fc-5152-81b5-e47355a16d24/scratchpad/art/deck/a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892040"/>
            <a:ext cx="1051560" cy="10515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1520" y="5989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درع الروح</a:t>
            </a:r>
            <a:endParaRPr lang="ar-SA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b="1" dirty="0">
                <a:solidFill>
                  <a:srgbClr val="7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مصورة: من تجارب الحياة</a:t>
            </a:r>
            <a:endParaRPr lang="ar-SA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تعرّفي على شخصيات القصة</a:t>
            </a:r>
            <a:endParaRPr lang="ar-SA" sz="2600" dirty="0"/>
          </a:p>
        </p:txBody>
      </p:sp>
      <p:pic>
        <p:nvPicPr>
          <p:cNvPr id="6" name="Image 0" descr="/tmp/claude-0/-home-user--/a6be5f54-c5fc-5152-81b5-e47355a16d24/scratchpad/art/story/cast_sal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697480"/>
            <a:ext cx="1600200" cy="1600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2124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سلمى</a:t>
            </a:r>
            <a:endParaRPr lang="ar-S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92124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بطلة القصة</a:t>
            </a:r>
            <a:endParaRPr lang="ar-SA" sz="1600" dirty="0"/>
          </a:p>
        </p:txBody>
      </p:sp>
      <p:pic>
        <p:nvPicPr>
          <p:cNvPr id="9" name="Image 1" descr="/tmp/claude-0/-home-user--/a6be5f54-c5fc-5152-81b5-e47355a16d24/scratchpad/art/story/cast_re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697480"/>
            <a:ext cx="1600200" cy="1600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ريم</a:t>
            </a:r>
            <a:endParaRPr lang="ar-SA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الصديقة الوفية</a:t>
            </a:r>
            <a:endParaRPr lang="ar-SA" sz="1600" dirty="0"/>
          </a:p>
        </p:txBody>
      </p:sp>
      <p:pic>
        <p:nvPicPr>
          <p:cNvPr id="12" name="Image 2" descr="/tmp/claude-0/-home-user--/a6be5f54-c5fc-5152-81b5-e47355a16d24/scratchpad/art/story/cast_joo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97480"/>
            <a:ext cx="1600200" cy="1600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</a:t>
            </a:r>
            <a:endParaRPr lang="ar-SA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17220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الطالبة الجديدة</a:t>
            </a:r>
            <a:endParaRPr lang="ar-SA" sz="1600" dirty="0"/>
          </a:p>
        </p:txBody>
      </p:sp>
      <p:pic>
        <p:nvPicPr>
          <p:cNvPr id="15" name="Image 3" descr="/tmp/claude-0/-home-user--/a6be5f54-c5fc-5152-81b5-e47355a16d24/scratchpad/art/story/cast_hal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697480"/>
            <a:ext cx="1600200" cy="1600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29768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هالة</a:t>
            </a:r>
            <a:endParaRPr lang="ar-SA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429768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تجرّ إلى الخطأ</a:t>
            </a:r>
            <a:endParaRPr lang="ar-SA" sz="1600" dirty="0"/>
          </a:p>
        </p:txBody>
      </p:sp>
      <p:pic>
        <p:nvPicPr>
          <p:cNvPr id="18" name="Image 4" descr="/tmp/claude-0/-home-user--/a6be5f54-c5fc-5152-81b5-e47355a16d24/scratchpad/art/story/cast_dana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2697480"/>
            <a:ext cx="1600200" cy="1600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42316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دانة</a:t>
            </a:r>
            <a:endParaRPr lang="ar-SA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242316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صاحبة القناع</a:t>
            </a:r>
            <a:endParaRPr lang="ar-SA" sz="1600" dirty="0"/>
          </a:p>
        </p:txBody>
      </p:sp>
      <p:pic>
        <p:nvPicPr>
          <p:cNvPr id="21" name="Image 5" descr="/tmp/claude-0/-home-user--/a6be5f54-c5fc-5152-81b5-e47355a16d24/scratchpad/art/story/cast_nour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97480"/>
            <a:ext cx="1600200" cy="1600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الأستاذة نورة</a:t>
            </a:r>
            <a:endParaRPr lang="ar-SA" sz="2200" dirty="0"/>
          </a:p>
        </p:txBody>
      </p:sp>
      <p:sp>
        <p:nvSpPr>
          <p:cNvPr id="23" name="Text 15"/>
          <p:cNvSpPr txBox="1"/>
          <p:nvPr/>
        </p:nvSpPr>
        <p:spPr>
          <a:xfrm>
            <a:off x="54864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المعلمة الحكيمة</a:t>
            </a:r>
            <a:endParaRPr lang="ar-SA" sz="1600" dirty="0"/>
          </a:p>
        </p:txBody>
      </p:sp>
      <p:sp>
        <p:nvSpPr>
          <p:cNvPr id="24" name="Shape 16"/>
          <p:cNvSpPr/>
          <p:nvPr/>
        </p:nvSpPr>
        <p:spPr>
          <a:xfrm>
            <a:off x="1188720" y="5623560"/>
            <a:ext cx="9811512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25" name="Text 17"/>
          <p:cNvSpPr txBox="1"/>
          <p:nvPr/>
        </p:nvSpPr>
        <p:spPr>
          <a:xfrm>
            <a:off x="1371600" y="56235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7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اقرئي المشاهد الخمسة، ثم اكتشفي: أي بيت من القصيدة يناسب كل مشهد؟</a:t>
            </a:r>
            <a:endParaRPr lang="ar-SA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الأول: الصديق وقت الشدّة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s1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280160"/>
            <a:ext cx="353872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02168" y="1463040"/>
            <a:ext cx="1828800" cy="960120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V="1">
            <a:off x="8522208" y="239572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0" name="Shape 7"/>
          <p:cNvSpPr/>
          <p:nvPr/>
        </p:nvSpPr>
        <p:spPr>
          <a:xfrm flipV="1">
            <a:off x="8549640" y="236829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11896" y="1463040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انظري! الكل يسخر من الطالبة الجديدة في المجموعة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9939528" y="2468880"/>
            <a:ext cx="164592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689336" y="337413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62488" y="361188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49256" y="24688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أريد أن أكون الوحيدة التي لا تضحك…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- في الاستراحة، تعرض هالة صورة مضحكة لطالبة جديدة في مجموعة الصف.</a:t>
            </a:r>
            <a:endParaRPr lang="ar-SA" sz="1400" dirty="0"/>
          </a:p>
        </p:txBody>
      </p:sp>
      <p:pic>
        <p:nvPicPr>
          <p:cNvPr id="17" name="Image 1" descr="/tmp/claude-0/-home-user--/a6be5f54-c5fc-5152-81b5-e47355a16d24/scratchpad/art/story/s1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3538728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285232" y="1444752"/>
            <a:ext cx="1783080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V="1">
            <a:off x="5993892" y="2148840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0" name="Shape 16"/>
          <p:cNvSpPr/>
          <p:nvPr/>
        </p:nvSpPr>
        <p:spPr>
          <a:xfrm flipV="1">
            <a:off x="6021324" y="2121408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394960" y="1444752"/>
            <a:ext cx="1563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 أشارك في السخرية من أحد.</a:t>
            </a:r>
            <a:endParaRPr lang="ar-SA" sz="1400" dirty="0"/>
          </a:p>
        </p:txBody>
      </p:sp>
      <p:sp>
        <p:nvSpPr>
          <p:cNvPr id="22" name="Shape 18"/>
          <p:cNvSpPr/>
          <p:nvPr/>
        </p:nvSpPr>
        <p:spPr>
          <a:xfrm>
            <a:off x="6519672" y="2468880"/>
            <a:ext cx="1280160" cy="6858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 flipH="1" flipV="1">
            <a:off x="7114032" y="312724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4" name="Shape 20"/>
          <p:cNvSpPr/>
          <p:nvPr/>
        </p:nvSpPr>
        <p:spPr>
          <a:xfrm flipH="1" flipV="1">
            <a:off x="7155180" y="309981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629400" y="246888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أنا معكِ يا سلمى.</a:t>
            </a:r>
            <a:endParaRPr lang="ar-SA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370832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- تقرّر سلمى ألّا تجاري هالة، فتغضب هالة… وتبقى ريم إلى جانبها.</a:t>
            </a:r>
            <a:endParaRPr lang="ar-SA" sz="1400" dirty="0"/>
          </a:p>
        </p:txBody>
      </p:sp>
      <p:pic>
        <p:nvPicPr>
          <p:cNvPr id="27" name="Image 2" descr="/tmp/claude-0/-home-user--/a6be5f54-c5fc-5152-81b5-e47355a16d24/scratchpad/art/story/s1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80160"/>
            <a:ext cx="3538728" cy="42062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2459736" y="1463040"/>
            <a:ext cx="1508760" cy="777240"/>
          </a:xfrm>
          <a:prstGeom prst="roundRect">
            <a:avLst>
              <a:gd name="adj" fmla="val 37647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 flipH="1" flipV="1">
            <a:off x="3282696" y="221284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0" name="Shape 25"/>
          <p:cNvSpPr/>
          <p:nvPr/>
        </p:nvSpPr>
        <p:spPr>
          <a:xfrm flipH="1" flipV="1">
            <a:off x="3323844" y="218541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2569464" y="146304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تعالي نراجع دروسنا معًا.</a:t>
            </a:r>
            <a:endParaRPr lang="ar-SA" sz="1400" dirty="0"/>
          </a:p>
        </p:txBody>
      </p:sp>
      <p:sp>
        <p:nvSpPr>
          <p:cNvPr id="32" name="Shape 27"/>
          <p:cNvSpPr/>
          <p:nvPr/>
        </p:nvSpPr>
        <p:spPr>
          <a:xfrm>
            <a:off x="649224" y="2377440"/>
            <a:ext cx="164592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 flipV="1">
            <a:off x="969264" y="32186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4" name="Shape 29"/>
          <p:cNvSpPr/>
          <p:nvPr/>
        </p:nvSpPr>
        <p:spPr>
          <a:xfrm flipV="1">
            <a:off x="996696" y="31912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58952" y="237744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 عرفتُ الصديقة الحقيقية.</a:t>
            </a:r>
            <a:endParaRPr lang="ar-SA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85216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- في اليوم التالي لم يسأل عنها أحد من مجموعة هالة… إلا ريم.</a:t>
            </a:r>
            <a:endParaRPr lang="ar-SA" sz="1400" dirty="0"/>
          </a:p>
        </p:txBody>
      </p:sp>
      <p:sp>
        <p:nvSpPr>
          <p:cNvPr id="37" name="Shape 32"/>
          <p:cNvSpPr/>
          <p:nvPr/>
        </p:nvSpPr>
        <p:spPr>
          <a:xfrm>
            <a:off x="539496" y="6236208"/>
            <a:ext cx="11109960" cy="50292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31520" y="623620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الأولى: بوصلة الأصدقاء – </a:t>
            </a:r>
            <a:pPr algn="ctr" indent="0" marL="0"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 جاريت في خلق دنيئًا فأنت ومن تجاريه سواءُ»</a:t>
            </a:r>
            <a:endParaRPr lang="ar-SA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الثاني: بعد الشدة رخاء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s2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280160"/>
            <a:ext cx="353872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30968" y="1463040"/>
            <a:ext cx="1508760" cy="777240"/>
          </a:xfrm>
          <a:prstGeom prst="roundRect">
            <a:avLst>
              <a:gd name="adj" fmla="val 37647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H="1" flipV="1">
            <a:off x="10853928" y="221284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0" name="Shape 7"/>
          <p:cNvSpPr/>
          <p:nvPr/>
        </p:nvSpPr>
        <p:spPr>
          <a:xfrm flipH="1" flipV="1">
            <a:off x="10895076" y="218541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40696" y="146304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تفضّلي ورقتك يا سلمى.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8220456" y="2331720"/>
            <a:ext cx="1691640" cy="822960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993124" y="319125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66276" y="342900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30184" y="233172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أتوقع هذه النتيجة أبدًا…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- تستلم سلمى ورقة الاختبار: 52 من 100… وتشعر بالإحباط.</a:t>
            </a:r>
            <a:endParaRPr lang="ar-SA" sz="1400" dirty="0"/>
          </a:p>
        </p:txBody>
      </p:sp>
      <p:pic>
        <p:nvPicPr>
          <p:cNvPr id="17" name="Image 1" descr="/tmp/claude-0/-home-user--/a6be5f54-c5fc-5152-81b5-e47355a16d24/scratchpad/art/story/s2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3538728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434840" y="1444752"/>
            <a:ext cx="201168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V="1">
            <a:off x="4754880" y="2286000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0" name="Shape 16"/>
          <p:cNvSpPr/>
          <p:nvPr/>
        </p:nvSpPr>
        <p:spPr>
          <a:xfrm flipV="1">
            <a:off x="4782312" y="2258568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544568" y="1444752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نتيجة اليوم، وليست نهاية الطريق.</a:t>
            </a:r>
            <a:endParaRPr lang="ar-SA" sz="1400" dirty="0"/>
          </a:p>
        </p:txBody>
      </p:sp>
      <p:sp>
        <p:nvSpPr>
          <p:cNvPr id="22" name="Shape 18"/>
          <p:cNvSpPr/>
          <p:nvPr/>
        </p:nvSpPr>
        <p:spPr>
          <a:xfrm>
            <a:off x="6336792" y="2468880"/>
            <a:ext cx="1417320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972300" y="323697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45452" y="347472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46520" y="2468880"/>
            <a:ext cx="119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لكنني تعبتُ كثيرًا…</a:t>
            </a:r>
            <a:endParaRPr lang="ar-SA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370832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- تحدّثها المعلمة نورة بحكمة، فتفهم أن الشدة لا تدوم.</a:t>
            </a:r>
            <a:endParaRPr lang="ar-SA" sz="1400" dirty="0"/>
          </a:p>
        </p:txBody>
      </p:sp>
      <p:pic>
        <p:nvPicPr>
          <p:cNvPr id="27" name="Image 2" descr="/tmp/claude-0/-home-user--/a6be5f54-c5fc-5152-81b5-e47355a16d24/scratchpad/art/story/s2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80160"/>
            <a:ext cx="3538728" cy="42062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49224" y="1463040"/>
            <a:ext cx="1737360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 flipV="1">
            <a:off x="969264" y="216712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0" name="Shape 25"/>
          <p:cNvSpPr/>
          <p:nvPr/>
        </p:nvSpPr>
        <p:spPr>
          <a:xfrm flipV="1">
            <a:off x="996696" y="213969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758952" y="1463040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الشدة جاء الرخاء!</a:t>
            </a:r>
            <a:endParaRPr lang="ar-SA" sz="1400" dirty="0"/>
          </a:p>
        </p:txBody>
      </p:sp>
      <p:sp>
        <p:nvSpPr>
          <p:cNvPr id="32" name="Shape 27"/>
          <p:cNvSpPr/>
          <p:nvPr/>
        </p:nvSpPr>
        <p:spPr>
          <a:xfrm>
            <a:off x="2322576" y="2377440"/>
            <a:ext cx="169164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 flipH="1" flipV="1">
            <a:off x="3328416" y="32186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4" name="Shape 29"/>
          <p:cNvSpPr/>
          <p:nvPr/>
        </p:nvSpPr>
        <p:spPr>
          <a:xfrm flipH="1" flipV="1">
            <a:off x="3369564" y="31912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2432304" y="237744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راجعتُ أخطائي وحاولتُ من جديد.</a:t>
            </a:r>
            <a:endParaRPr lang="ar-SA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85216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- بعد أسبوعين من المراجعة والمحاولة… 85 من 100!</a:t>
            </a:r>
            <a:endParaRPr lang="ar-SA" sz="1400" dirty="0"/>
          </a:p>
        </p:txBody>
      </p:sp>
      <p:sp>
        <p:nvSpPr>
          <p:cNvPr id="37" name="Shape 32"/>
          <p:cNvSpPr/>
          <p:nvPr/>
        </p:nvSpPr>
        <p:spPr>
          <a:xfrm>
            <a:off x="539496" y="6236208"/>
            <a:ext cx="1110996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31520" y="623620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الثانية: منحنى المرونة – </a:t>
            </a:r>
            <a:pPr algn="ctr" indent="0" marL="0"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«ما من شدةٍ إلا سيأتي لها من بعد شدتها رخاءُ»</a:t>
            </a:r>
            <a:endParaRPr lang="ar-SA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F2665A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الثالث: خلف القناع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s3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280160"/>
            <a:ext cx="353872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0456" y="1463040"/>
            <a:ext cx="1920240" cy="9144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V="1">
            <a:off x="8540496" y="235000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0" name="Shape 7"/>
          <p:cNvSpPr/>
          <p:nvPr/>
        </p:nvSpPr>
        <p:spPr>
          <a:xfrm flipV="1">
            <a:off x="8567928" y="232257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30184" y="146304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أنتِ أروع رئيسة صف! أنا صديقتكِ المفضلة!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10076688" y="2514600"/>
            <a:ext cx="1463040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 flipH="1" flipV="1">
            <a:off x="10853928" y="32186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4" name="Shape 11"/>
          <p:cNvSpPr/>
          <p:nvPr/>
        </p:nvSpPr>
        <p:spPr>
          <a:xfrm flipH="1" flipV="1">
            <a:off x="10895076" y="31912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186416" y="251460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يا دانة، ما أجملكِ!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- تُنتخب سلمى رئيسةً للصف، وتغدق عليها دانة المديح واللطف.</a:t>
            </a:r>
            <a:endParaRPr lang="ar-SA" sz="1400" dirty="0"/>
          </a:p>
        </p:txBody>
      </p:sp>
      <p:pic>
        <p:nvPicPr>
          <p:cNvPr id="17" name="Image 1" descr="/tmp/claude-0/-home-user--/a6be5f54-c5fc-5152-81b5-e47355a16d24/scratchpad/art/story/s3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3538728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742432" y="1463040"/>
            <a:ext cx="196596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H="1" flipV="1">
            <a:off x="7022592" y="23042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0" name="Shape 16"/>
          <p:cNvSpPr/>
          <p:nvPr/>
        </p:nvSpPr>
        <p:spPr>
          <a:xfrm flipH="1" flipV="1">
            <a:off x="7063740" y="22768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852160" y="146304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أجاملها فقط لأنها رئيسة الصف!</a:t>
            </a:r>
            <a:endParaRPr lang="ar-SA" sz="1400" dirty="0"/>
          </a:p>
        </p:txBody>
      </p:sp>
      <p:sp>
        <p:nvSpPr>
          <p:cNvPr id="22" name="Shape 18"/>
          <p:cNvSpPr/>
          <p:nvPr/>
        </p:nvSpPr>
        <p:spPr>
          <a:xfrm>
            <a:off x="4462272" y="2651760"/>
            <a:ext cx="82296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00600" y="319125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73752" y="342900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72000" y="265176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ماذا؟!</a:t>
            </a:r>
            <a:endParaRPr lang="ar-SA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370832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- تسمع سلمى بالصدفة دانة تسخر منها خلف ظهرها.</a:t>
            </a:r>
            <a:endParaRPr lang="ar-SA" sz="1400" dirty="0"/>
          </a:p>
        </p:txBody>
      </p:sp>
      <p:pic>
        <p:nvPicPr>
          <p:cNvPr id="27" name="Image 2" descr="/tmp/claude-0/-home-user--/a6be5f54-c5fc-5152-81b5-e47355a16d24/scratchpad/art/story/s3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80160"/>
            <a:ext cx="3538728" cy="42062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2368296" y="1463040"/>
            <a:ext cx="1600200" cy="9144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 flipH="1" flipV="1">
            <a:off x="3282696" y="235000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0" name="Shape 25"/>
          <p:cNvSpPr/>
          <p:nvPr/>
        </p:nvSpPr>
        <p:spPr>
          <a:xfrm flipH="1" flipV="1">
            <a:off x="3323844" y="232257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2478024" y="1463040"/>
            <a:ext cx="1380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نحن معكِ سواء كنتِ رئيسة أم لا.</a:t>
            </a:r>
            <a:endParaRPr lang="ar-SA" sz="1400" dirty="0"/>
          </a:p>
        </p:txBody>
      </p:sp>
      <p:sp>
        <p:nvSpPr>
          <p:cNvPr id="32" name="Shape 27"/>
          <p:cNvSpPr/>
          <p:nvPr/>
        </p:nvSpPr>
        <p:spPr>
          <a:xfrm>
            <a:off x="1362456" y="2514600"/>
            <a:ext cx="182880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2203704" y="341985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276856" y="365760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472184" y="251460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بعض الناس يحبون المنصب… لا الإنسان.</a:t>
            </a:r>
            <a:endParaRPr lang="ar-SA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85216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- تتعلّم سلمى ألّا تحكم على الناس بمظاهرهم ومناصبهم.</a:t>
            </a:r>
            <a:endParaRPr lang="ar-SA" sz="1400" dirty="0"/>
          </a:p>
        </p:txBody>
      </p:sp>
      <p:sp>
        <p:nvSpPr>
          <p:cNvPr id="37" name="Shape 32"/>
          <p:cNvSpPr/>
          <p:nvPr/>
        </p:nvSpPr>
        <p:spPr>
          <a:xfrm>
            <a:off x="539496" y="6236208"/>
            <a:ext cx="11109960" cy="502920"/>
          </a:xfrm>
          <a:prstGeom prst="roundRect">
            <a:avLst>
              <a:gd name="adj" fmla="val 50000"/>
            </a:avLst>
          </a:prstGeom>
          <a:solidFill>
            <a:srgbClr val="F2665A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31520" y="623620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الثالثة: الأقنعة المزيفة – </a:t>
            </a:r>
            <a:pPr algn="ctr" indent="0" marL="0"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 ما رأس أهل البيت ولّى بدا لهم من الناس الجفاءُ»</a:t>
            </a:r>
            <a:endParaRPr lang="ar-SA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الرابع: قرار الحياء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s4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280160"/>
            <a:ext cx="353872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710928" y="1417320"/>
            <a:ext cx="1874520" cy="960120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H="1" flipV="1">
            <a:off x="10899648" y="235000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0" name="Shape 7"/>
          <p:cNvSpPr/>
          <p:nvPr/>
        </p:nvSpPr>
        <p:spPr>
          <a:xfrm flipH="1" flipV="1">
            <a:off x="10940796" y="232257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20656" y="1417320"/>
            <a:ext cx="1655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سنتبادل الإجابات في الاختبار. الجميع سيفعلها!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8247888" y="2606040"/>
            <a:ext cx="1280160" cy="59436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14816" y="323697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87968" y="347472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57616" y="2606040"/>
            <a:ext cx="106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قلبي يخفق بشدة…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- قبل اختبار الغد، تعرض هالة على سلمى أن يغشّوا معًا.</a:t>
            </a:r>
            <a:endParaRPr lang="ar-SA" sz="1400" dirty="0"/>
          </a:p>
        </p:txBody>
      </p:sp>
      <p:pic>
        <p:nvPicPr>
          <p:cNvPr id="17" name="Image 1" descr="/tmp/claude-0/-home-user--/a6be5f54-c5fc-5152-81b5-e47355a16d24/scratchpad/art/story/s4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3538728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48072" y="1463040"/>
            <a:ext cx="192024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V="1">
            <a:off x="5925312" y="23042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0" name="Shape 16"/>
          <p:cNvSpPr/>
          <p:nvPr/>
        </p:nvSpPr>
        <p:spPr>
          <a:xfrm flipV="1">
            <a:off x="5952744" y="22768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257800" y="146304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أستحي أن أنجح بغير جهدي!</a:t>
            </a:r>
            <a:endParaRPr lang="ar-SA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370832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- تتذكر سلمى حياءها وقيمها، وتختار ما يحفظ كرامتها.</a:t>
            </a:r>
            <a:endParaRPr lang="ar-SA" sz="1400" dirty="0"/>
          </a:p>
        </p:txBody>
      </p:sp>
      <p:pic>
        <p:nvPicPr>
          <p:cNvPr id="23" name="Image 2" descr="/tmp/claude-0/-home-user--/a6be5f54-c5fc-5152-81b5-e47355a16d24/scratchpad/art/story/s4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80160"/>
            <a:ext cx="3538728" cy="42062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49224" y="1417320"/>
            <a:ext cx="2011680" cy="1005840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 flipV="1">
            <a:off x="969264" y="239572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6" name="Shape 21"/>
          <p:cNvSpPr/>
          <p:nvPr/>
        </p:nvSpPr>
        <p:spPr>
          <a:xfrm flipV="1">
            <a:off x="996696" y="236829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758952" y="14173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أثق بكِ يا سلمى… الأمانة أغلى من الدرجة.</a:t>
            </a:r>
            <a:endParaRPr lang="ar-SA" sz="1400" dirty="0"/>
          </a:p>
        </p:txBody>
      </p:sp>
      <p:sp>
        <p:nvSpPr>
          <p:cNvPr id="28" name="Shape 23"/>
          <p:cNvSpPr/>
          <p:nvPr/>
        </p:nvSpPr>
        <p:spPr>
          <a:xfrm>
            <a:off x="2734056" y="2606040"/>
            <a:ext cx="1188720" cy="59436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 flipH="1" flipV="1">
            <a:off x="3236976" y="317296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0" name="Shape 25"/>
          <p:cNvSpPr/>
          <p:nvPr/>
        </p:nvSpPr>
        <p:spPr>
          <a:xfrm flipH="1" flipV="1">
            <a:off x="3278124" y="314553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2843784" y="260604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ضميري مرتاح.</a:t>
            </a:r>
            <a:endParaRPr lang="ar-SA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585216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- تكتشف المعلمة ما حدث، وتفخر بسلمى لأنها اختارت الأمانة.</a:t>
            </a:r>
            <a:endParaRPr lang="ar-SA" sz="1400" dirty="0"/>
          </a:p>
        </p:txBody>
      </p:sp>
      <p:sp>
        <p:nvSpPr>
          <p:cNvPr id="33" name="Shape 28"/>
          <p:cNvSpPr/>
          <p:nvPr/>
        </p:nvSpPr>
        <p:spPr>
          <a:xfrm>
            <a:off x="539496" y="6236208"/>
            <a:ext cx="11109960" cy="50292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31520" y="623620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الرابعة: الحياء درع الروح – </a:t>
            </a:r>
            <a:pPr algn="ctr" indent="0" marL="0"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«يعيش المرء ما استحيا بخير ويبقى العود ما بقي اللحاءُ»</a:t>
            </a:r>
            <a:endParaRPr lang="ar-SA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7A5AE0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الأخير: مدرسة الحياة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91672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1508760"/>
            <a:ext cx="310896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350008" y="241401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23160" y="265176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8408" y="150876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5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كانت تجارب الحياة مدرستي الحقيقية؟</a:t>
            </a:r>
            <a:endParaRPr lang="ar-SA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45152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الأصدقاء</a:t>
            </a:r>
            <a:endParaRPr lang="ar-SA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51576" y="26426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المرونة</a:t>
            </a:r>
            <a:endParaRPr lang="ar-SA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2569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الأقنعة</a:t>
            </a:r>
            <a:endParaRPr lang="ar-SA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73568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الحياء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852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تجلس سلمى تحت شجرتها المفضلة وتفتح دفترها… وتتذكر كل ما حدث. تكتشف أن تجارب الحياة نفسها يمكن أن تكون مدرسة.</a:t>
            </a:r>
            <a:endParaRPr lang="ar-SA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w_qu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8686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القصة</a:t>
            </a:r>
            <a:endParaRPr lang="ar-SA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64592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نقرأ الحكمة في بيت شعر، ولكننا نفهمها حقًا عندما نعيش موقفًا يشبهها.</a:t>
            </a:r>
            <a:endParaRPr lang="ar-SA" sz="4000" dirty="0"/>
          </a:p>
        </p:txBody>
      </p:sp>
      <p:sp>
        <p:nvSpPr>
          <p:cNvPr id="7" name="Shape 4"/>
          <p:cNvSpPr/>
          <p:nvPr/>
        </p:nvSpPr>
        <p:spPr>
          <a:xfrm>
            <a:off x="1280160" y="4114800"/>
            <a:ext cx="9628632" cy="1600200"/>
          </a:xfrm>
          <a:prstGeom prst="roundRect">
            <a:avLst>
              <a:gd name="adj" fmla="val 31429"/>
            </a:avLst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554480" y="4114800"/>
            <a:ext cx="9079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2000" b="1" dirty="0">
                <a:solidFill>
                  <a:srgbClr val="7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للتأمل</a:t>
            </a:r>
            <a:endParaRPr lang="ar-SA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موقف من القصة شعرتِ أنه الأقرب إلى حياتك؟ وما الحكمة التي تعلمتِها منه؟</a:t>
            </a:r>
            <a:endParaRPr lang="ar-SA" sz="2000" dirty="0"/>
          </a:p>
        </p:txBody>
      </p:sp>
      <p:pic>
        <p:nvPicPr>
          <p:cNvPr id="9" name="Image 1" descr="/tmp/claude-0/-home-user--/a6be5f54-c5fc-5152-81b5-e47355a16d24/scratchpad/art/deck/a_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5852160"/>
            <a:ext cx="777240" cy="777240"/>
          </a:xfrm>
          <a:prstGeom prst="rect">
            <a:avLst/>
          </a:prstGeom>
        </p:spPr>
      </p:pic>
      <p:pic>
        <p:nvPicPr>
          <p:cNvPr id="10" name="Image 2" descr="/tmp/claude-0/-home-user--/a6be5f54-c5fc-5152-81b5-e47355a16d24/scratchpad/art/deck/a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5852160"/>
            <a:ext cx="777240" cy="777240"/>
          </a:xfrm>
          <a:prstGeom prst="rect">
            <a:avLst/>
          </a:prstGeom>
        </p:spPr>
      </p:pic>
      <p:pic>
        <p:nvPicPr>
          <p:cNvPr id="11" name="Image 3" descr="/tmp/claude-0/-home-user--/a6be5f54-c5fc-5152-81b5-e47355a16d24/scratchpad/art/deck/a_m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5852160"/>
            <a:ext cx="777240" cy="777240"/>
          </a:xfrm>
          <a:prstGeom prst="rect">
            <a:avLst/>
          </a:prstGeom>
        </p:spPr>
      </p:pic>
      <p:pic>
        <p:nvPicPr>
          <p:cNvPr id="12" name="Image 4" descr="/tmp/claude-0/-home-user--/a6be5f54-c5fc-5152-81b5-e47355a16d24/scratchpad/art/deck/a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58521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000" b="1" dirty="0">
                <a:solidFill>
                  <a:srgbClr val="FF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 التركيز: صوّب نحو الهدف!</a:t>
            </a:r>
            <a:endParaRPr lang="ar-SA" sz="5000" dirty="0"/>
          </a:p>
        </p:txBody>
      </p:sp>
      <p:pic>
        <p:nvPicPr>
          <p:cNvPr id="3" name="Image 0" descr="/tmp/claude-0/-home-user--/a6be5f54-c5fc-5152-81b5-e47355a16d24/scratchpad/art/deck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448056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881360" y="1783080"/>
            <a:ext cx="777240" cy="777240"/>
          </a:xfrm>
          <a:prstGeom prst="ellipse">
            <a:avLst/>
          </a:prstGeom>
          <a:solidFill>
            <a:srgbClr val="F4B63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8813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2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6916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الأول:</a:t>
            </a:r>
            <a:endParaRPr lang="ar-SA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غرض الشاعر الأساسي في هذه القصيدة هو: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5120640" y="3017520"/>
            <a:ext cx="5577840" cy="0"/>
          </a:xfrm>
          <a:prstGeom prst="line">
            <a:avLst/>
          </a:prstGeom>
          <a:noFill/>
          <a:ln w="19050">
            <a:solidFill>
              <a:srgbClr val="8E86D8"/>
            </a:solidFill>
            <a:prstDash val="sysDash"/>
          </a:ln>
        </p:spPr>
      </p:sp>
      <p:sp>
        <p:nvSpPr>
          <p:cNvPr id="8" name="Shape 5"/>
          <p:cNvSpPr/>
          <p:nvPr/>
        </p:nvSpPr>
        <p:spPr>
          <a:xfrm>
            <a:off x="10881360" y="3383280"/>
            <a:ext cx="777240" cy="777240"/>
          </a:xfrm>
          <a:prstGeom prst="ellipse">
            <a:avLst/>
          </a:prstGeom>
          <a:solidFill>
            <a:srgbClr val="F4B63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88136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2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32918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الثاني:</a:t>
            </a:r>
            <a:endParaRPr lang="ar-SA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العلاقة البلاغية بين كلمتي «الغدر» و «الوفاء» هي:</a:t>
            </a:r>
            <a:endParaRPr lang="ar-SA" sz="2000" dirty="0"/>
          </a:p>
        </p:txBody>
      </p:sp>
      <p:sp>
        <p:nvSpPr>
          <p:cNvPr id="11" name="Shape 8"/>
          <p:cNvSpPr/>
          <p:nvPr/>
        </p:nvSpPr>
        <p:spPr>
          <a:xfrm>
            <a:off x="5120640" y="4617720"/>
            <a:ext cx="5577840" cy="0"/>
          </a:xfrm>
          <a:prstGeom prst="line">
            <a:avLst/>
          </a:prstGeom>
          <a:noFill/>
          <a:ln w="19050">
            <a:solidFill>
              <a:srgbClr val="8E86D8"/>
            </a:solidFill>
            <a:prstDash val="sysDash"/>
          </a:ln>
        </p:spPr>
      </p:sp>
      <p:sp>
        <p:nvSpPr>
          <p:cNvPr id="12" name="Shape 9"/>
          <p:cNvSpPr/>
          <p:nvPr/>
        </p:nvSpPr>
        <p:spPr>
          <a:xfrm>
            <a:off x="10881360" y="4983480"/>
            <a:ext cx="777240" cy="777240"/>
          </a:xfrm>
          <a:prstGeom prst="ellipse">
            <a:avLst/>
          </a:prstGeom>
          <a:solidFill>
            <a:srgbClr val="F4B6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88136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2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48920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الثالث:</a:t>
            </a:r>
            <a:endParaRPr lang="ar-SA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المقولة «المرء على دين خليله»، تتوافق في معناها مع البيت:</a:t>
            </a:r>
            <a:endParaRPr lang="ar-SA" sz="2000" dirty="0"/>
          </a:p>
        </p:txBody>
      </p:sp>
      <p:sp>
        <p:nvSpPr>
          <p:cNvPr id="15" name="Shape 12"/>
          <p:cNvSpPr/>
          <p:nvPr/>
        </p:nvSpPr>
        <p:spPr>
          <a:xfrm>
            <a:off x="5120640" y="6217920"/>
            <a:ext cx="5577840" cy="0"/>
          </a:xfrm>
          <a:prstGeom prst="line">
            <a:avLst/>
          </a:prstGeom>
          <a:noFill/>
          <a:ln w="19050">
            <a:solidFill>
              <a:srgbClr val="8E86D8"/>
            </a:solidFill>
            <a:prstDash val="sysDash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ti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rgbClr val="B3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 سريع للمجموعات</a:t>
            </a:r>
            <a:endParaRPr lang="ar-SA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جولة 60 ثانية! تفوز المجموعة بـ 10 نقاط عن كل إجابة صحيحة.</a:t>
            </a:r>
            <a:endParaRPr lang="ar-SA" sz="2100" dirty="0"/>
          </a:p>
        </p:txBody>
      </p:sp>
      <p:sp>
        <p:nvSpPr>
          <p:cNvPr id="7" name="Shape 4"/>
          <p:cNvSpPr/>
          <p:nvPr/>
        </p:nvSpPr>
        <p:spPr>
          <a:xfrm>
            <a:off x="6263640" y="1965960"/>
            <a:ext cx="5440680" cy="1920240"/>
          </a:xfrm>
          <a:prstGeom prst="roundRect">
            <a:avLst>
              <a:gd name="adj" fmla="val 19048"/>
            </a:avLst>
          </a:prstGeom>
          <a:solidFill>
            <a:srgbClr val="DDF5E8"/>
          </a:solidFill>
          <a:ln w="31750">
            <a:solidFill>
              <a:srgbClr val="2FA36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789920" y="2194560"/>
            <a:ext cx="685800" cy="68580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7899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194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اللحاء</a:t>
            </a:r>
            <a:endParaRPr lang="ar-SA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8803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8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اكتبوا ثلاثة أمثلة معاصرة على «اللحاء» الذي يحمي كرامة الإنسان.</a:t>
            </a:r>
            <a:endParaRPr lang="ar-SA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1965960"/>
            <a:ext cx="5440680" cy="1920240"/>
          </a:xfrm>
          <a:prstGeom prst="roundRect">
            <a:avLst>
              <a:gd name="adj" fmla="val 19048"/>
            </a:avLst>
          </a:prstGeom>
          <a:solidFill>
            <a:srgbClr val="E4F0FF"/>
          </a:solidFill>
          <a:ln w="3175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2194560"/>
            <a:ext cx="685800" cy="685800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2194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المفتاح</a:t>
            </a:r>
            <a:endParaRPr lang="ar-SA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28803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8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اشرحوا للفريق الآخر كلمة (جاريت – دنيئًا – المخازي – الغدر) دون ذكرها.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263640" y="4114800"/>
            <a:ext cx="5440680" cy="1920240"/>
          </a:xfrm>
          <a:prstGeom prst="roundRect">
            <a:avLst>
              <a:gd name="adj" fmla="val 19048"/>
            </a:avLst>
          </a:prstGeom>
          <a:solidFill>
            <a:srgbClr val="FFF1D0"/>
          </a:solidFill>
          <a:ln w="31750">
            <a:solidFill>
              <a:srgbClr val="F5A524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789920" y="4343400"/>
            <a:ext cx="685800" cy="6858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78992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4343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النصيحة</a:t>
            </a:r>
            <a:endParaRPr lang="ar-SA" sz="270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5029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8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قدّموا نصيحة لزميلة حصلت على درجة منخفضة مستعينين ببيت من القصيدة.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502920" y="4114800"/>
            <a:ext cx="5440680" cy="1920240"/>
          </a:xfrm>
          <a:prstGeom prst="roundRect">
            <a:avLst>
              <a:gd name="adj" fmla="val 19048"/>
            </a:avLst>
          </a:prstGeom>
          <a:solidFill>
            <a:srgbClr val="FFE6E1"/>
          </a:solidFill>
          <a:ln w="31750">
            <a:solidFill>
              <a:srgbClr val="F2665A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0" y="4343400"/>
            <a:ext cx="685800" cy="68580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343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إكمال البيت</a:t>
            </a:r>
            <a:endParaRPr lang="ar-SA" sz="27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5029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8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أكملوا: «إذا لم تخش عاقبة الليالي ……»</a:t>
            </a:r>
            <a:endParaRPr lang="ar-SA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 (تأشيرة مغادرة الدرس)</a:t>
            </a:r>
            <a:endParaRPr lang="ar-SA" sz="4600" dirty="0"/>
          </a:p>
        </p:txBody>
      </p:sp>
      <p:pic>
        <p:nvPicPr>
          <p:cNvPr id="3" name="Image 0" descr="/tmp/claude-0/-home-user--/a6be5f54-c5fc-5152-81b5-e47355a16d24/scratchpad/art/deck/pl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2377440" cy="2834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1510000">
            <a:off x="3566160" y="1600200"/>
            <a:ext cx="6766560" cy="3566160"/>
          </a:xfrm>
          <a:prstGeom prst="rect">
            <a:avLst/>
          </a:prstGeom>
          <a:solidFill>
            <a:srgbClr val="FFE66D"/>
          </a:solidFill>
          <a:ln/>
          <a:effectLst>
            <a:outerShdw sx="100000" sy="100000" kx="0" ky="0" algn="bl" rotWithShape="0" blurRad="152400" dist="50800" dir="5400000">
              <a:srgbClr val="1E2A3A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720840" y="1417320"/>
            <a:ext cx="457200" cy="457200"/>
          </a:xfrm>
          <a:prstGeom prst="ellipse">
            <a:avLst/>
          </a:prstGeom>
          <a:solidFill>
            <a:srgbClr val="F2665A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931920" y="19659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ar-SA" altLang="en-US" sz="2600" b="1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للتأمل:</a:t>
            </a:r>
            <a:endParaRPr lang="ar-SA" sz="2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ar-SA" altLang="en-US" sz="3100" b="1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هي القاعدة أو الفضيلة الأقرب لقلبك من قصيدة اليوم؟ ولماذا؟</a:t>
            </a:r>
            <a:endParaRPr lang="ar-SA" sz="2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ar-SA" altLang="en-US" sz="2400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(الوفاء، الحياء، الصبر، النزاهة).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44068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إلى أن نلتقي في الدرس القادم..</a:t>
            </a:r>
            <a:endParaRPr lang="ar-SA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تذكروا دائماً أن تكونوا كالشجرة، قوية بحيائها، صامدة في الشدائد!</a:t>
            </a:r>
            <a:endParaRPr lang="ar-SA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 تجارب الحياة – قواعد ذهبية للحياة والنجاح من الشاعر أبي تمام</dc:title>
  <dc:subject>PptxGenJS Presentation</dc:subject>
  <dc:creator>إعادة تصميم</dc:creator>
  <cp:lastModifiedBy>إعادة تصميم</cp:lastModifiedBy>
  <cp:revision>1</cp:revision>
  <dcterms:created xsi:type="dcterms:W3CDTF">2026-10-01T03:50:05Z</dcterms:created>
  <dcterms:modified xsi:type="dcterms:W3CDTF">2026-10-01T03:50:05Z</dcterms:modified>
</cp:coreProperties>
</file>
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دخل" id="{631d7fff-09a4-1d80-9dae-95692b98cfb2}">
          <p14:sldIdLst>
            <p14:sldId id="256"/>
            <p14:sldId id="257"/>
            <p14:sldId id="258"/>
          </p14:sldIdLst>
        </p14:section>
        <p14:section name="الحصة الأولى" id="{6059d8fd-8bef-2280-e229-27e6fb2c8301}">
          <p14:sldIdLst>
            <p14:sldId id="259"/>
            <p14:sldId id="260"/>
            <p14:sldId id="261"/>
            <p14:sldId id="262"/>
          </p14:sldIdLst>
        </p14:section>
        <p14:section name="الحصة الثانية" id="{d568bc15-eb05-e058-d151-51f9a96aa238}">
          <p14:sldIdLst>
            <p14:sldId id="263"/>
            <p14:sldId id="264"/>
            <p14:sldId id="265"/>
            <p14:sldId id="266"/>
            <p14:sldId id="267"/>
          </p14:sldIdLst>
        </p14:section>
        <p14:section name="الحصة الثالثة" id="{5ad1826d-d826-ebb5-aae8-fbe22ce86ddf}">
          <p14:sldIdLst>
            <p14:sldId id="268"/>
            <p14:sldId id="269"/>
            <p14:sldId id="270"/>
            <p14:sldId id="271"/>
            <p14:sldId id="272"/>
          </p14:sldIdLst>
        </p14:section>
        <p14:section name="الحصة الرابعة" id="{d29e4087-0396-194b-7a57-6632f89d102a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ختام" id="{6ee080e7-f2ac-842d-12c2-358f3a3e8069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العنوان — ٢ دقيقة. ترحيب وتعريف بعنوان الدرس والحصص الأربع. الحركة: تظهر الصورة ثم العنوان الفرعي تلقائيًا بعد الانتقال.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دورة التعلّم الخماسية — ٣ دقائق. يدور المخطط مرة واحدة ثم تظهر المراحل الخمس تباعًا. انقري لعرض شرح كل مرحلة.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خطة الحصص الأربع — ٢ دقيقة. تظهر كل حصة بنقرة.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مدخل الحصة الأولى — دقيقة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التهيئة — ٨ دقائق. اطرحي كل سؤال وانتظري إجابات الطالبات قبل النقر على السؤال التالي.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الاستكشاف — ١٢ دقيقة. قراءة الفقرة الأولى من النص، ثم السؤال، ثم الإجابة بنقرة مستقلة.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المفردات — ١٠ دقائق. اطلبي من الطالبات تخمين المعنى من السياق قبل ظهوره.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مدخل الحصة الثانية —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الوصفة — ٨ دقائق. تظهر المكوّنات الستة واحدًا بعد الآخر مع خطوط الربط.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 — ١٠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الرياضة — ١٠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النوم — ١٠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مدخل الحصة الثالثة —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الغذاء — ١٢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الأخلاق والعادات — ١٠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الاسترخاء — ١٥ دقيقة. التعريف ثم النوعان ثم المفهوم الخاطئ ثم الأساليب ثم الشعار.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التصنيف — ١٠ دقائق. اطلبي من الطالبات تحديد الصنف قبل ظهور كل بطاقة.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مدخل الحصة الرابعة —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الخلاصة — ٨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1 — ٤ دقائق. اطلبي الإجابة قبل النقر.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2 — ٤ دقائق. اطلبي الإجابة قبل النقر.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3 — ٤ دقائق. اطلبي الإجابة قبل النقر.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وصفتي الصحّية — ١٥ دقيقة. تكتب الطالبات في الخانات (نصوص قابلة للتعديل).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بطاقة الخروج — ٥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الختام — دقيقة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bg>
      <p:bgPr>
        <a:solidFill>
          <a:srgbClr val="F2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:fade:0:1000" descr="فتاة تفتح ذراعيها أمام بحيرة وجبال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a:fade:700:600"/>
          <p:cNvSpPr txBox="1"/>
          <p:nvPr/>
        </p:nvSpPr>
        <p:spPr>
          <a:xfrm>
            <a:off x="5943600" y="1097280"/>
            <a:ext cx="56692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معلوماتي</a:t>
            </a:r>
            <a:endParaRPr lang="ar-SA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594360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أجل نمط عيش صحي</a:t>
            </a:r>
            <a:endParaRPr lang="ar-SA" sz="5400" dirty="0"/>
          </a:p>
        </p:txBody>
      </p:sp>
      <p:sp>
        <p:nvSpPr>
          <p:cNvPr id="6" name="a:fade:1300:600"/>
          <p:cNvSpPr txBox="1"/>
          <p:nvPr/>
        </p:nvSpPr>
        <p:spPr>
          <a:xfrm>
            <a:off x="594360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العربية — الصف الثامن</a:t>
            </a:r>
            <a:endParaRPr lang="ar-SA" sz="2200" dirty="0"/>
          </a:p>
        </p:txBody>
      </p:sp>
      <p:sp>
        <p:nvSpPr>
          <p:cNvPr id="7" name="a:fade:1900:600"/>
          <p:cNvSpPr txBox="1"/>
          <p:nvPr/>
        </p:nvSpPr>
        <p:spPr>
          <a:xfrm>
            <a:off x="5943600" y="4389120"/>
            <a:ext cx="56692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حصص وفق دورة التعلّم الخماسية</a:t>
            </a:r>
            <a:endParaRPr lang="ar-SA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 grpId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رحلتنا في التعلّم: دورة التعلّم الخماسية</a:t>
            </a:r>
            <a:endParaRPr lang="en-US" sz="3400" dirty="0"/>
          </a:p>
        </p:txBody>
      </p:sp>
      <p:sp>
        <p:nvSpPr>
          <p:cNvPr id="4" name="a:spin:0:3600"/>
          <p:cNvSpPr/>
          <p:nvPr/>
        </p:nvSpPr>
        <p:spPr>
          <a:xfrm>
            <a:off x="6995160" y="2011680"/>
            <a:ext cx="4023360" cy="4023360"/>
          </a:xfrm>
          <a:prstGeom prst="ellipse">
            <a:avLst/>
          </a:prstGeom>
          <a:ln w="38100">
            <a:solidFill>
              <a:srgbClr val="0E8C7F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366760" y="3383280"/>
            <a:ext cx="1280160" cy="1280160"/>
          </a:xfrm>
          <a:prstGeom prst="ellipse">
            <a:avLst/>
          </a:prstGeom>
          <a:solidFill>
            <a:srgbClr val="0B4F4A"/>
          </a:solidFill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5Es</a:t>
            </a:r>
            <a:endParaRPr lang="ar-SA" sz="2800" dirty="0"/>
          </a:p>
        </p:txBody>
      </p:sp>
      <p:sp>
        <p:nvSpPr>
          <p:cNvPr id="6" name="a:zoom:1500:500"/>
          <p:cNvSpPr txBox="1"/>
          <p:nvPr/>
        </p:nvSpPr>
        <p:spPr>
          <a:xfrm>
            <a:off x="8206740" y="1211580"/>
            <a:ext cx="1600200" cy="1600200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</a:t>
            </a:r>
            <a:endParaRPr lang="ar-SA" sz="1400" dirty="0"/>
          </a:p>
        </p:txBody>
      </p:sp>
      <p:sp>
        <p:nvSpPr>
          <p:cNvPr id="7" name="a:zoom:1950:500"/>
          <p:cNvSpPr txBox="1"/>
          <p:nvPr/>
        </p:nvSpPr>
        <p:spPr>
          <a:xfrm>
            <a:off x="10119961" y="2601617"/>
            <a:ext cx="1600200" cy="1600200"/>
          </a:xfrm>
          <a:prstGeom prst="ellipse">
            <a:avLst/>
          </a:prstGeom>
          <a:solidFill>
            <a:srgbClr val="2D9CDB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الاستكشاف</a:t>
            </a:r>
            <a:endParaRPr lang="ar-SA" sz="1400" dirty="0"/>
          </a:p>
        </p:txBody>
      </p:sp>
      <p:sp>
        <p:nvSpPr>
          <p:cNvPr id="8" name="a:zoom:2400:500"/>
          <p:cNvSpPr txBox="1"/>
          <p:nvPr/>
        </p:nvSpPr>
        <p:spPr>
          <a:xfrm>
            <a:off x="9389176" y="4850743"/>
            <a:ext cx="1600200" cy="1600200"/>
          </a:xfrm>
          <a:prstGeom prst="ellipse">
            <a:avLst/>
          </a:prstGeom>
          <a:solidFill>
            <a:srgbClr val="0E8C7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التفسير</a:t>
            </a:r>
            <a:endParaRPr lang="ar-SA" sz="1400" dirty="0"/>
          </a:p>
        </p:txBody>
      </p:sp>
      <p:sp>
        <p:nvSpPr>
          <p:cNvPr id="9" name="a:zoom:2850:500"/>
          <p:cNvSpPr txBox="1"/>
          <p:nvPr/>
        </p:nvSpPr>
        <p:spPr>
          <a:xfrm>
            <a:off x="7024304" y="4850743"/>
            <a:ext cx="1600200" cy="1600200"/>
          </a:xfrm>
          <a:prstGeom prst="ellipse">
            <a:avLst/>
          </a:prstGeom>
          <a:solidFill>
            <a:srgbClr val="9B51E0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الإثراء</a:t>
            </a:r>
            <a:endParaRPr lang="ar-SA" sz="1400" dirty="0"/>
          </a:p>
        </p:txBody>
      </p:sp>
      <p:sp>
        <p:nvSpPr>
          <p:cNvPr id="10" name="a:zoom:3300:500"/>
          <p:cNvSpPr txBox="1"/>
          <p:nvPr/>
        </p:nvSpPr>
        <p:spPr>
          <a:xfrm>
            <a:off x="6293519" y="2601617"/>
            <a:ext cx="1600200" cy="1600200"/>
          </a:xfrm>
          <a:prstGeom prst="ellipse">
            <a:avLst/>
          </a:prstGeom>
          <a:solidFill>
            <a:srgbClr val="EB5757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</a:t>
            </a:r>
            <a:endParaRPr lang="ar-SA" sz="1400" dirty="0"/>
          </a:p>
        </p:txBody>
      </p:sp>
      <p:sp>
        <p:nvSpPr>
          <p:cNvPr id="11" name="c1:fade"/>
          <p:cNvSpPr txBox="1"/>
          <p:nvPr/>
        </p:nvSpPr>
        <p:spPr>
          <a:xfrm>
            <a:off x="548640" y="150876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التهيئة: </a:t>
            </a:r>
            <a:pPr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نثير الفضول ونربط الدرس بحياتنا</a:t>
            </a:r>
            <a:endParaRPr lang="ar-SA" sz="2000" dirty="0"/>
          </a:p>
        </p:txBody>
      </p:sp>
      <p:sp>
        <p:nvSpPr>
          <p:cNvPr id="12" name="c2:fade"/>
          <p:cNvSpPr txBox="1"/>
          <p:nvPr/>
        </p:nvSpPr>
        <p:spPr>
          <a:xfrm>
            <a:off x="548640" y="246888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الاستكشاف: </a:t>
            </a:r>
            <a:pPr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نقرأ النص ونجمع الأفكار</a:t>
            </a:r>
            <a:endParaRPr lang="ar-SA" sz="2000" dirty="0"/>
          </a:p>
        </p:txBody>
      </p:sp>
      <p:sp>
        <p:nvSpPr>
          <p:cNvPr id="13" name="c3:fade"/>
          <p:cNvSpPr txBox="1"/>
          <p:nvPr/>
        </p:nvSpPr>
        <p:spPr>
          <a:xfrm>
            <a:off x="548640" y="342900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التفسير: </a:t>
            </a:r>
            <a:pPr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مكوّنات الوصفة الصحية</a:t>
            </a:r>
            <a:endParaRPr lang="ar-SA" sz="2000" dirty="0"/>
          </a:p>
        </p:txBody>
      </p:sp>
      <p:sp>
        <p:nvSpPr>
          <p:cNvPr id="14" name="c4:fade"/>
          <p:cNvSpPr txBox="1"/>
          <p:nvPr/>
        </p:nvSpPr>
        <p:spPr>
          <a:xfrm>
            <a:off x="548640" y="43891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الإثراء: </a:t>
            </a:r>
            <a:pPr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نطبّق ونصنّف ونوسّع الفهم</a:t>
            </a:r>
            <a:endParaRPr lang="ar-SA" sz="2000" dirty="0"/>
          </a:p>
        </p:txBody>
      </p:sp>
      <p:sp>
        <p:nvSpPr>
          <p:cNvPr id="15" name="c5:fade"/>
          <p:cNvSpPr txBox="1"/>
          <p:nvPr/>
        </p:nvSpPr>
        <p:spPr>
          <a:xfrm>
            <a:off x="548640" y="53492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التقويم: </a:t>
            </a:r>
            <a:pPr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نختبر فهمنا ونصمّم وصفتنا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 grpId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 grpId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 grpId="0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 grpId="0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 grpId="0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 grpId="0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الدرس: أربع حصص</a:t>
            </a:r>
            <a:endParaRPr lang="en-US" sz="3400" dirty="0"/>
          </a:p>
        </p:txBody>
      </p:sp>
      <p:sp>
        <p:nvSpPr>
          <p:cNvPr id="4" name="c1:zoom"/>
          <p:cNvSpPr txBox="1"/>
          <p:nvPr/>
        </p:nvSpPr>
        <p:spPr>
          <a:xfrm>
            <a:off x="8945575" y="173736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الأولى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 والاستكشاف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القراءة الأولى والمفردات</a:t>
            </a:r>
            <a:endParaRPr lang="ar-SA" sz="2000" dirty="0"/>
          </a:p>
        </p:txBody>
      </p:sp>
      <p:sp>
        <p:nvSpPr>
          <p:cNvPr id="5" name="c2:zoom"/>
          <p:cNvSpPr txBox="1"/>
          <p:nvPr/>
        </p:nvSpPr>
        <p:spPr>
          <a:xfrm>
            <a:off x="6110935" y="173736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الثانية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التفسير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 والرياضة والنوم</a:t>
            </a:r>
            <a:endParaRPr lang="ar-SA" sz="2000" dirty="0"/>
          </a:p>
        </p:txBody>
      </p:sp>
      <p:sp>
        <p:nvSpPr>
          <p:cNvPr id="6" name="c3:zoom"/>
          <p:cNvSpPr txBox="1"/>
          <p:nvPr/>
        </p:nvSpPr>
        <p:spPr>
          <a:xfrm>
            <a:off x="3276295" y="173736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9B51E0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الثالثة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الإثراء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الغذاء والأخلاق والاسترخاء</a:t>
            </a:r>
            <a:endParaRPr lang="ar-SA" sz="2000" dirty="0"/>
          </a:p>
        </p:txBody>
      </p:sp>
      <p:sp>
        <p:nvSpPr>
          <p:cNvPr id="7" name="c4:zoom"/>
          <p:cNvSpPr txBox="1"/>
          <p:nvPr/>
        </p:nvSpPr>
        <p:spPr>
          <a:xfrm>
            <a:off x="441655" y="173736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EB5757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الرابعة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والاختبار والوصفة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الأولى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 والاستكشاف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الحصة</a:t>
            </a:r>
            <a:endParaRPr lang="ar-SA" sz="2000" dirty="0"/>
          </a:p>
        </p:txBody>
      </p:sp>
      <p:sp>
        <p:nvSpPr>
          <p:cNvPr id="6" name="c1:fade"/>
          <p:cNvSpPr txBox="1"/>
          <p:nvPr/>
        </p:nvSpPr>
        <p:spPr>
          <a:xfrm>
            <a:off x="731520" y="35204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أستنتج الفكرة العامة للنص بعد قراءته</a:t>
            </a:r>
            <a:endParaRPr lang="ar-SA" sz="2200" dirty="0"/>
          </a:p>
        </p:txBody>
      </p:sp>
      <p:sp>
        <p:nvSpPr>
          <p:cNvPr id="7" name="c2:fade"/>
          <p:cNvSpPr txBox="1"/>
          <p:nvPr/>
        </p:nvSpPr>
        <p:spPr>
          <a:xfrm>
            <a:off x="731520" y="44805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أتعرّف مفردات النص وأوظّفها في جمل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التهيئة: ما الذي يجعل يومك صحيًّا؟</a:t>
            </a:r>
            <a:endParaRPr lang="en-US" sz="3400" dirty="0"/>
          </a:p>
        </p:txBody>
      </p:sp>
      <p:pic>
        <p:nvPicPr>
          <p:cNvPr id="4" name="a:fade:0:900" descr="فتاة أمام بحير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389120" cy="3474720"/>
          </a:xfrm>
          <a:prstGeom prst="rect">
            <a:avLst/>
          </a:prstGeom>
        </p:spPr>
      </p:pic>
      <p:sp>
        <p:nvSpPr>
          <p:cNvPr id="5" name="c1:fade"/>
          <p:cNvSpPr txBox="1"/>
          <p:nvPr/>
        </p:nvSpPr>
        <p:spPr>
          <a:xfrm>
            <a:off x="5303520" y="1508760"/>
            <a:ext cx="6355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تفعلين عندما تشعرين بالتوتر؟</a:t>
            </a:r>
            <a:endParaRPr lang="ar-SA" sz="2200" dirty="0"/>
          </a:p>
        </p:txBody>
      </p:sp>
      <p:sp>
        <p:nvSpPr>
          <p:cNvPr id="6" name="c2:fade"/>
          <p:cNvSpPr txBox="1"/>
          <p:nvPr/>
        </p:nvSpPr>
        <p:spPr>
          <a:xfrm>
            <a:off x="5303520" y="2697480"/>
            <a:ext cx="6355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ساعة تنامين كل ليلة؟ وهل هي كافية؟</a:t>
            </a:r>
            <a:endParaRPr lang="ar-SA" sz="2200" dirty="0"/>
          </a:p>
        </p:txBody>
      </p:sp>
      <p:sp>
        <p:nvSpPr>
          <p:cNvPr id="7" name="c3:fade"/>
          <p:cNvSpPr txBox="1"/>
          <p:nvPr/>
        </p:nvSpPr>
        <p:spPr>
          <a:xfrm>
            <a:off x="5303520" y="3886200"/>
            <a:ext cx="6355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الوجبة التي تظنّين أنها الأكثر ضررًا لجسمك؟</a:t>
            </a:r>
            <a:endParaRPr lang="ar-SA" sz="2200" dirty="0"/>
          </a:p>
        </p:txBody>
      </p:sp>
      <p:sp>
        <p:nvSpPr>
          <p:cNvPr id="8" name="c4:zoom"/>
          <p:cNvSpPr txBox="1"/>
          <p:nvPr/>
        </p:nvSpPr>
        <p:spPr>
          <a:xfrm>
            <a:off x="548640" y="521208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نبني نمط عيش صحي؟ هذا ما سنكتشفه معًا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الاستكشاف: نقرأ بداية النص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41732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«إنّنا بوصفنا بشرًا مُعرَّضون في هذه الحياة لضُغوطٍ عصبيّةٍ ونفسيّةٍ هائلةٍ، بسبب المشكلات الاقتصاديّة أو الاجتماعيّة أو النفسيّة»</a:t>
            </a:r>
            <a:endParaRPr lang="ar-SA" sz="2200" dirty="0"/>
          </a:p>
        </p:txBody>
      </p:sp>
      <p:sp>
        <p:nvSpPr>
          <p:cNvPr id="5" name="c2:fade"/>
          <p:cNvSpPr txBox="1"/>
          <p:nvPr/>
        </p:nvSpPr>
        <p:spPr>
          <a:xfrm>
            <a:off x="548640" y="278892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«وبالرّغم من ذلك فإنّنا مطالبون بتجاوز تلك المشكلات، والمحافظة على التوازن بين قُدراتنا الجسديّة والعصبيّة والعقليّة»</a:t>
            </a:r>
            <a:endParaRPr lang="ar-SA" sz="2200" dirty="0"/>
          </a:p>
        </p:txBody>
      </p:sp>
      <p:sp>
        <p:nvSpPr>
          <p:cNvPr id="6" name="c3:fade"/>
          <p:cNvSpPr txBox="1"/>
          <p:nvPr/>
        </p:nvSpPr>
        <p:spPr>
          <a:xfrm>
            <a:off x="548640" y="4251960"/>
            <a:ext cx="11109960" cy="822960"/>
          </a:xfrm>
          <a:prstGeom prst="roundRect">
            <a:avLst>
              <a:gd name="adj" fmla="val 13333"/>
            </a:avLst>
          </a:prstGeom>
          <a:solidFill>
            <a:srgbClr val="2D9CDB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الفكرة التي يطرحها الكاتب في هاتين الفقرتين؟</a:t>
            </a:r>
            <a:endParaRPr lang="ar-SA" sz="2400" dirty="0"/>
          </a:p>
        </p:txBody>
      </p:sp>
      <p:sp>
        <p:nvSpPr>
          <p:cNvPr id="7" name="c4:zoom:0:600"/>
          <p:cNvSpPr txBox="1"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DFF3EE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نحتاج إلى التوازن بين الجسد والأعصاب والعقل، ووصفة متوازنة تجعل حياتنا صحيّة وسعيدة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مفردات من النص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031175" y="1463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ضغوط عصبيّة</a:t>
            </a:r>
            <a:endParaRPr lang="ar-SA" sz="2600" dirty="0"/>
          </a:p>
        </p:txBody>
      </p:sp>
      <p:sp>
        <p:nvSpPr>
          <p:cNvPr id="5" name="c1:fade"/>
          <p:cNvSpPr txBox="1"/>
          <p:nvPr/>
        </p:nvSpPr>
        <p:spPr>
          <a:xfrm>
            <a:off x="8031175" y="25146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توتّر وإرهاق يصيب الأعصاب</a:t>
            </a:r>
            <a:endParaRPr lang="ar-SA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236415" y="1463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مُستدامة</a:t>
            </a:r>
            <a:endParaRPr lang="ar-SA" sz="2600" dirty="0"/>
          </a:p>
        </p:txBody>
      </p:sp>
      <p:sp>
        <p:nvSpPr>
          <p:cNvPr id="7" name="c2:fade"/>
          <p:cNvSpPr txBox="1"/>
          <p:nvPr/>
        </p:nvSpPr>
        <p:spPr>
          <a:xfrm>
            <a:off x="4236415" y="25146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دائمة ومستمرّة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41655" y="1463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النقد اللاذع</a:t>
            </a:r>
            <a:endParaRPr lang="ar-SA" sz="2600" dirty="0"/>
          </a:p>
        </p:txBody>
      </p:sp>
      <p:sp>
        <p:nvSpPr>
          <p:cNvPr id="9" name="c3:fade"/>
          <p:cNvSpPr txBox="1"/>
          <p:nvPr/>
        </p:nvSpPr>
        <p:spPr>
          <a:xfrm>
            <a:off x="441655" y="25146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النقد الجارح المؤلم</a:t>
            </a:r>
            <a:endParaRPr lang="ar-SA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31175" y="39776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الإخفاقات</a:t>
            </a:r>
            <a:endParaRPr lang="ar-SA" sz="2600" dirty="0"/>
          </a:p>
        </p:txBody>
      </p:sp>
      <p:sp>
        <p:nvSpPr>
          <p:cNvPr id="11" name="c4:fade"/>
          <p:cNvSpPr txBox="1"/>
          <p:nvPr/>
        </p:nvSpPr>
        <p:spPr>
          <a:xfrm>
            <a:off x="8031175" y="50292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مرّات الفشل وعدم تحقيق المراد</a:t>
            </a:r>
            <a:endParaRPr lang="ar-SA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236415" y="39776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الزيوت المهدرجة</a:t>
            </a:r>
            <a:endParaRPr lang="ar-SA" sz="2600" dirty="0"/>
          </a:p>
        </p:txBody>
      </p:sp>
      <p:sp>
        <p:nvSpPr>
          <p:cNvPr id="13" name="c5:fade"/>
          <p:cNvSpPr txBox="1"/>
          <p:nvPr/>
        </p:nvSpPr>
        <p:spPr>
          <a:xfrm>
            <a:off x="4236415" y="50292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زيوت معالجة صناعيًّا ضارّة بالصحّة</a:t>
            </a:r>
            <a:endParaRPr lang="ar-SA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41655" y="39776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الاسترخاء</a:t>
            </a:r>
            <a:endParaRPr lang="ar-SA" sz="2600" dirty="0"/>
          </a:p>
        </p:txBody>
      </p:sp>
      <p:sp>
        <p:nvSpPr>
          <p:cNvPr id="15" name="c6:fade"/>
          <p:cNvSpPr txBox="1"/>
          <p:nvPr/>
        </p:nvSpPr>
        <p:spPr>
          <a:xfrm>
            <a:off x="441655" y="50292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هدوء للجسم والنفس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الثانية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التفسير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الحصة</a:t>
            </a:r>
            <a:endParaRPr lang="ar-SA" sz="2000" dirty="0"/>
          </a:p>
        </p:txBody>
      </p:sp>
      <p:sp>
        <p:nvSpPr>
          <p:cNvPr id="6" name="c1:fade"/>
          <p:cNvSpPr txBox="1"/>
          <p:nvPr/>
        </p:nvSpPr>
        <p:spPr>
          <a:xfrm>
            <a:off x="731520" y="35204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أفسّر أثر المرح والرياضة والنوم في الصحّة</a:t>
            </a:r>
            <a:endParaRPr lang="ar-SA" sz="2200" dirty="0"/>
          </a:p>
        </p:txBody>
      </p:sp>
      <p:sp>
        <p:nvSpPr>
          <p:cNvPr id="7" name="c2:fade"/>
          <p:cNvSpPr txBox="1"/>
          <p:nvPr/>
        </p:nvSpPr>
        <p:spPr>
          <a:xfrm>
            <a:off x="731520" y="44805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أستخرج من النص الشواهد التي تدعم كل فكرة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وصفة نمط العيش الصحّي</a:t>
            </a:r>
            <a:endParaRPr lang="en-US" sz="3400" dirty="0"/>
          </a:p>
        </p:txBody>
      </p:sp>
      <p:sp>
        <p:nvSpPr>
          <p:cNvPr id="4" name="c1:wipeT:0:500"/>
          <p:cNvSpPr/>
          <p:nvPr/>
        </p:nvSpPr>
        <p:spPr>
          <a:xfrm>
            <a:off x="6095848" y="2011680"/>
            <a:ext cx="0" cy="201168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5" name="c2:wipeT:0:500"/>
          <p:cNvSpPr/>
          <p:nvPr/>
        </p:nvSpPr>
        <p:spPr>
          <a:xfrm flipV="1">
            <a:off x="6095848" y="3017520"/>
            <a:ext cx="3405143" cy="1005840"/>
          </a:xfrm>
          <a:prstGeom prst="line">
            <a:avLst/>
          </a:prstGeom>
          <a:noFill/>
          <a:ln w="38100">
            <a:solidFill>
              <a:srgbClr val="2D9CDB"/>
            </a:solidFill>
            <a:prstDash val="solid"/>
          </a:ln>
        </p:spPr>
      </p:sp>
      <p:sp>
        <p:nvSpPr>
          <p:cNvPr id="6" name="c3:wipeT:0:500"/>
          <p:cNvSpPr/>
          <p:nvPr/>
        </p:nvSpPr>
        <p:spPr>
          <a:xfrm>
            <a:off x="6095848" y="4023360"/>
            <a:ext cx="3405143" cy="1005840"/>
          </a:xfrm>
          <a:prstGeom prst="line">
            <a:avLst/>
          </a:prstGeom>
          <a:noFill/>
          <a:ln w="38100">
            <a:solidFill>
              <a:srgbClr val="9B51E0"/>
            </a:solidFill>
            <a:prstDash val="solid"/>
          </a:ln>
        </p:spPr>
      </p:sp>
      <p:sp>
        <p:nvSpPr>
          <p:cNvPr id="7" name="c4:wipeT:0:500"/>
          <p:cNvSpPr/>
          <p:nvPr/>
        </p:nvSpPr>
        <p:spPr>
          <a:xfrm>
            <a:off x="6095848" y="4023360"/>
            <a:ext cx="0" cy="2011680"/>
          </a:xfrm>
          <a:prstGeom prst="line">
            <a:avLst/>
          </a:prstGeom>
          <a:noFill/>
          <a:ln w="38100">
            <a:solidFill>
              <a:srgbClr val="6BBF59"/>
            </a:solidFill>
            <a:prstDash val="solid"/>
          </a:ln>
        </p:spPr>
      </p:sp>
      <p:sp>
        <p:nvSpPr>
          <p:cNvPr id="8" name="c5:wipeT:0:500"/>
          <p:cNvSpPr/>
          <p:nvPr/>
        </p:nvSpPr>
        <p:spPr>
          <a:xfrm flipV="1">
            <a:off x="2690705" y="4023360"/>
            <a:ext cx="3405143" cy="1005840"/>
          </a:xfrm>
          <a:prstGeom prst="line">
            <a:avLst/>
          </a:prstGeom>
          <a:noFill/>
          <a:ln w="38100">
            <a:solidFill>
              <a:srgbClr val="EB5757"/>
            </a:solidFill>
            <a:prstDash val="solid"/>
          </a:ln>
        </p:spPr>
      </p:sp>
      <p:sp>
        <p:nvSpPr>
          <p:cNvPr id="9" name="c6:wipeT:0:500"/>
          <p:cNvSpPr/>
          <p:nvPr/>
        </p:nvSpPr>
        <p:spPr>
          <a:xfrm>
            <a:off x="2690705" y="3017520"/>
            <a:ext cx="3405143" cy="1005840"/>
          </a:xfrm>
          <a:prstGeom prst="line">
            <a:avLst/>
          </a:prstGeom>
          <a:noFill/>
          <a:ln w="38100">
            <a:solidFill>
              <a:srgbClr val="0E8C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35728" y="3063240"/>
            <a:ext cx="1920240" cy="1920240"/>
          </a:xfrm>
          <a:prstGeom prst="ellipse">
            <a:avLst/>
          </a:prstGeom>
          <a:solidFill>
            <a:srgbClr val="0B4F4A"/>
          </a:solidFill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وصفة العيش الصحّي</a:t>
            </a:r>
            <a:endParaRPr lang="ar-SA" sz="1900" dirty="0"/>
          </a:p>
        </p:txBody>
      </p:sp>
      <p:sp>
        <p:nvSpPr>
          <p:cNvPr id="11" name="c1:zoom:350:500"/>
          <p:cNvSpPr txBox="1"/>
          <p:nvPr/>
        </p:nvSpPr>
        <p:spPr>
          <a:xfrm>
            <a:off x="4907128" y="16230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 والفكاهة</a:t>
            </a:r>
            <a:endParaRPr lang="ar-SA" sz="2000" dirty="0"/>
          </a:p>
        </p:txBody>
      </p:sp>
      <p:sp>
        <p:nvSpPr>
          <p:cNvPr id="12" name="c2:zoom:350:500"/>
          <p:cNvSpPr txBox="1"/>
          <p:nvPr/>
        </p:nvSpPr>
        <p:spPr>
          <a:xfrm>
            <a:off x="8312270" y="262890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2D9CDB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ممارسة الرياضة</a:t>
            </a:r>
            <a:endParaRPr lang="ar-SA" sz="2000" dirty="0"/>
          </a:p>
        </p:txBody>
      </p:sp>
      <p:sp>
        <p:nvSpPr>
          <p:cNvPr id="13" name="c3:zoom:350:500"/>
          <p:cNvSpPr txBox="1"/>
          <p:nvPr/>
        </p:nvSpPr>
        <p:spPr>
          <a:xfrm>
            <a:off x="8312270" y="46405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9B51E0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النوم العميق</a:t>
            </a:r>
            <a:endParaRPr lang="ar-SA" sz="2000" dirty="0"/>
          </a:p>
        </p:txBody>
      </p:sp>
      <p:sp>
        <p:nvSpPr>
          <p:cNvPr id="14" name="c4:zoom:350:500"/>
          <p:cNvSpPr txBox="1"/>
          <p:nvPr/>
        </p:nvSpPr>
        <p:spPr>
          <a:xfrm>
            <a:off x="4907128" y="564642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6BBF59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الغذاء الصحّي</a:t>
            </a:r>
            <a:endParaRPr lang="ar-SA" sz="2000" dirty="0"/>
          </a:p>
        </p:txBody>
      </p:sp>
      <p:sp>
        <p:nvSpPr>
          <p:cNvPr id="15" name="c5:zoom:350:500"/>
          <p:cNvSpPr txBox="1"/>
          <p:nvPr/>
        </p:nvSpPr>
        <p:spPr>
          <a:xfrm>
            <a:off x="1501985" y="46405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EB5757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الأخلاق الحسنة</a:t>
            </a:r>
            <a:endParaRPr lang="ar-SA" sz="2000" dirty="0"/>
          </a:p>
        </p:txBody>
      </p:sp>
      <p:sp>
        <p:nvSpPr>
          <p:cNvPr id="16" name="c6:zoom:350:500"/>
          <p:cNvSpPr txBox="1"/>
          <p:nvPr/>
        </p:nvSpPr>
        <p:spPr>
          <a:xfrm>
            <a:off x="1501985" y="262890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الاسترخاء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 grpId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الأول: المرح والفكاهة</a:t>
            </a:r>
            <a:endParaRPr lang="en-US" sz="3400" dirty="0"/>
          </a:p>
        </p:txBody>
      </p:sp>
      <p:pic>
        <p:nvPicPr>
          <p:cNvPr id="4" name="a:fade:0:800" descr="شاب يضح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291840" cy="4233672"/>
          </a:xfrm>
          <a:prstGeom prst="rect">
            <a:avLst/>
          </a:prstGeom>
        </p:spPr>
      </p:pic>
      <p:sp>
        <p:nvSpPr>
          <p:cNvPr id="5" name="c1:fade"/>
          <p:cNvSpPr txBox="1"/>
          <p:nvPr/>
        </p:nvSpPr>
        <p:spPr>
          <a:xfrm>
            <a:off x="4206240" y="141732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نفسيّة تساعد على مواجهة الإخفاقات والإحباطات المتتالية</a:t>
            </a:r>
            <a:endParaRPr lang="ar-SA" sz="2100" dirty="0"/>
          </a:p>
        </p:txBody>
      </p:sp>
      <p:sp>
        <p:nvSpPr>
          <p:cNvPr id="6" name="c2:fade"/>
          <p:cNvSpPr txBox="1"/>
          <p:nvPr/>
        </p:nvSpPr>
        <p:spPr>
          <a:xfrm>
            <a:off x="4206240" y="260604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ألّا نجنح نحو النقد اللاذع والتجريح والسخرية والاستهزاء</a:t>
            </a:r>
            <a:endParaRPr lang="ar-SA" sz="2100" dirty="0"/>
          </a:p>
        </p:txBody>
      </p:sp>
      <p:sp>
        <p:nvSpPr>
          <p:cNvPr id="7" name="c3:fade"/>
          <p:cNvSpPr txBox="1"/>
          <p:nvPr/>
        </p:nvSpPr>
        <p:spPr>
          <a:xfrm>
            <a:off x="4206240" y="379476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البديل: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توجيه النقد البنّاء بأسلوب لطيف ونبرة هادئة</a:t>
            </a:r>
            <a:endParaRPr lang="ar-SA" sz="2100" dirty="0"/>
          </a:p>
        </p:txBody>
      </p:sp>
      <p:sp>
        <p:nvSpPr>
          <p:cNvPr id="8" name="c4:fade"/>
          <p:cNvSpPr txBox="1"/>
          <p:nvPr/>
        </p:nvSpPr>
        <p:spPr>
          <a:xfrm>
            <a:off x="4206240" y="5029200"/>
            <a:ext cx="7452360" cy="54864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نفرّق بين المرح والسخرية؟</a:t>
            </a:r>
            <a:endParaRPr lang="ar-SA" sz="2000" dirty="0"/>
          </a:p>
        </p:txBody>
      </p:sp>
      <p:sp>
        <p:nvSpPr>
          <p:cNvPr id="9" name="c5:zoom:0:550"/>
          <p:cNvSpPr txBox="1"/>
          <p:nvPr/>
        </p:nvSpPr>
        <p:spPr>
          <a:xfrm>
            <a:off x="4206240" y="5669280"/>
            <a:ext cx="7452360" cy="640080"/>
          </a:xfrm>
          <a:prstGeom prst="roundRect">
            <a:avLst>
              <a:gd name="adj" fmla="val 17143"/>
            </a:avLst>
          </a:prstGeom>
          <a:solidFill>
            <a:srgbClr val="DFF3EE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 يُسعد الجميع، أمّا السخرية فتجرح غيرنا</a:t>
            </a:r>
            <a:endParaRPr lang="ar-SA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الثاني: ممارسة الرياضة</a:t>
            </a:r>
            <a:endParaRPr lang="en-US" sz="3400" dirty="0"/>
          </a:p>
        </p:txBody>
      </p:sp>
      <p:pic>
        <p:nvPicPr>
          <p:cNvPr id="4" name="a:fade:0:800" descr="رياضي يتدرّب ويتابع بهاتف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291840" cy="2734056"/>
          </a:xfrm>
          <a:prstGeom prst="rect">
            <a:avLst/>
          </a:prstGeom>
        </p:spPr>
      </p:pic>
      <p:sp>
        <p:nvSpPr>
          <p:cNvPr id="5" name="c1:fade"/>
          <p:cNvSpPr txBox="1"/>
          <p:nvPr/>
        </p:nvSpPr>
        <p:spPr>
          <a:xfrm>
            <a:off x="4206240" y="141732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الأهمّية: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ممارسة الرياضة بنوعيها العقلية والجسدية من أهمّ عوامل الحياة الصحّية المستدامة</a:t>
            </a:r>
            <a:endParaRPr lang="ar-SA" sz="2100" dirty="0"/>
          </a:p>
        </p:txBody>
      </p:sp>
      <p:sp>
        <p:nvSpPr>
          <p:cNvPr id="6" name="c2:fade"/>
          <p:cNvSpPr txBox="1"/>
          <p:nvPr/>
        </p:nvSpPr>
        <p:spPr>
          <a:xfrm>
            <a:off x="4206240" y="260604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المهمّ: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نوع الرياضة، بل أن تكون الممارسة مستمرّة</a:t>
            </a:r>
            <a:endParaRPr lang="ar-SA" sz="2100" dirty="0"/>
          </a:p>
        </p:txBody>
      </p:sp>
      <p:sp>
        <p:nvSpPr>
          <p:cNvPr id="7" name="c3:fade"/>
          <p:cNvSpPr txBox="1"/>
          <p:nvPr/>
        </p:nvSpPr>
        <p:spPr>
          <a:xfrm>
            <a:off x="4206240" y="379476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تكون الممارسة وفق الخطوات والمبادئ السليمة</a:t>
            </a:r>
            <a:endParaRPr lang="ar-SA" sz="2100" dirty="0"/>
          </a:p>
        </p:txBody>
      </p:sp>
      <p:sp>
        <p:nvSpPr>
          <p:cNvPr id="8" name="c4:fade"/>
          <p:cNvSpPr txBox="1"/>
          <p:nvPr/>
        </p:nvSpPr>
        <p:spPr>
          <a:xfrm>
            <a:off x="4206240" y="5029200"/>
            <a:ext cx="7452360" cy="548640"/>
          </a:xfrm>
          <a:prstGeom prst="roundRect">
            <a:avLst>
              <a:gd name="adj" fmla="val 20000"/>
            </a:avLst>
          </a:prstGeom>
          <a:solidFill>
            <a:srgbClr val="2D9CDB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ذكر الكاتب (نوعيها)؟</a:t>
            </a:r>
            <a:endParaRPr lang="ar-SA" sz="2000" dirty="0"/>
          </a:p>
        </p:txBody>
      </p:sp>
      <p:sp>
        <p:nvSpPr>
          <p:cNvPr id="9" name="c5:zoom:0:550"/>
          <p:cNvSpPr txBox="1"/>
          <p:nvPr/>
        </p:nvSpPr>
        <p:spPr>
          <a:xfrm>
            <a:off x="4206240" y="5669280"/>
            <a:ext cx="7452360" cy="640080"/>
          </a:xfrm>
          <a:prstGeom prst="roundRect">
            <a:avLst>
              <a:gd name="adj" fmla="val 17143"/>
            </a:avLst>
          </a:prstGeom>
          <a:solidFill>
            <a:srgbClr val="DFF3EE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العقل يحتاج إلى تمرين كما يحتاج الجسد</a:t>
            </a:r>
            <a:endParaRPr lang="ar-SA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الثالث: النوم العميق</a:t>
            </a:r>
            <a:endParaRPr lang="en-US" sz="3400" dirty="0"/>
          </a:p>
        </p:txBody>
      </p:sp>
      <p:sp>
        <p:nvSpPr>
          <p:cNvPr id="4" name="a:zoom:0:800"/>
          <p:cNvSpPr/>
          <p:nvPr/>
        </p:nvSpPr>
        <p:spPr>
          <a:xfrm>
            <a:off x="1097280" y="1645920"/>
            <a:ext cx="2194560" cy="3291840"/>
          </a:xfrm>
          <a:prstGeom prst="moon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5" name="c1:fade"/>
          <p:cNvSpPr txBox="1"/>
          <p:nvPr/>
        </p:nvSpPr>
        <p:spPr>
          <a:xfrm>
            <a:off x="4206240" y="141732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الأهمّية: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للنوم العميق أثر كبير في صحّة النفس والبدن</a:t>
            </a:r>
            <a:endParaRPr lang="ar-SA" sz="2100" dirty="0"/>
          </a:p>
        </p:txBody>
      </p:sp>
      <p:sp>
        <p:nvSpPr>
          <p:cNvPr id="6" name="c2:fade"/>
          <p:cNvSpPr txBox="1"/>
          <p:nvPr/>
        </p:nvSpPr>
        <p:spPr>
          <a:xfrm>
            <a:off x="4206240" y="260604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ينام الإنسان في الليل وليس في النهار فقط</a:t>
            </a:r>
            <a:endParaRPr lang="ar-SA" sz="2100" dirty="0"/>
          </a:p>
        </p:txBody>
      </p:sp>
      <p:sp>
        <p:nvSpPr>
          <p:cNvPr id="7" name="c3:fade"/>
          <p:cNvSpPr txBox="1"/>
          <p:nvPr/>
        </p:nvSpPr>
        <p:spPr>
          <a:xfrm>
            <a:off x="4206240" y="3794760"/>
            <a:ext cx="7452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1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buNone/>
            </a:pPr>
            <a:r>
              <a:rPr lang="ar-SA" altLang="en-US" sz="21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يقوّي عمليات الدماغ ويساعد على اتخاذ القرارات دون مشوّشات أو معيقات</a:t>
            </a:r>
            <a:endParaRPr lang="ar-SA" sz="2100" dirty="0"/>
          </a:p>
        </p:txBody>
      </p:sp>
      <p:sp>
        <p:nvSpPr>
          <p:cNvPr id="8" name="c4:fade"/>
          <p:cNvSpPr txBox="1"/>
          <p:nvPr/>
        </p:nvSpPr>
        <p:spPr>
          <a:xfrm>
            <a:off x="4206240" y="5029200"/>
            <a:ext cx="7452360" cy="548640"/>
          </a:xfrm>
          <a:prstGeom prst="roundRect">
            <a:avLst>
              <a:gd name="adj" fmla="val 20000"/>
            </a:avLst>
          </a:prstGeom>
          <a:solidFill>
            <a:srgbClr val="9B51E0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ينفع تعويض نوم الليل بنوم النهار؟</a:t>
            </a:r>
            <a:endParaRPr lang="ar-SA" sz="2000" dirty="0"/>
          </a:p>
        </p:txBody>
      </p:sp>
      <p:sp>
        <p:nvSpPr>
          <p:cNvPr id="9" name="c5:zoom:0:550"/>
          <p:cNvSpPr txBox="1"/>
          <p:nvPr/>
        </p:nvSpPr>
        <p:spPr>
          <a:xfrm>
            <a:off x="4206240" y="5669280"/>
            <a:ext cx="7452360" cy="640080"/>
          </a:xfrm>
          <a:prstGeom prst="roundRect">
            <a:avLst>
              <a:gd name="adj" fmla="val 17143"/>
            </a:avLst>
          </a:prstGeom>
          <a:solidFill>
            <a:srgbClr val="DFF3EE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لا، فقد اشترط النص أن يكون النوم في الليل</a:t>
            </a:r>
            <a:endParaRPr lang="ar-SA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الثالثة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الإثراء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الحصة</a:t>
            </a:r>
            <a:endParaRPr lang="ar-SA" sz="2000" dirty="0"/>
          </a:p>
        </p:txBody>
      </p:sp>
      <p:sp>
        <p:nvSpPr>
          <p:cNvPr id="6" name="c1:fade"/>
          <p:cNvSpPr txBox="1"/>
          <p:nvPr/>
        </p:nvSpPr>
        <p:spPr>
          <a:xfrm>
            <a:off x="731520" y="35204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أربط الغذاء والأخلاق والاسترخاء بحياتي</a:t>
            </a:r>
            <a:endParaRPr lang="ar-SA" sz="2200" dirty="0"/>
          </a:p>
        </p:txBody>
      </p:sp>
      <p:sp>
        <p:nvSpPr>
          <p:cNvPr id="7" name="c2:fade"/>
          <p:cNvSpPr txBox="1"/>
          <p:nvPr/>
        </p:nvSpPr>
        <p:spPr>
          <a:xfrm>
            <a:off x="731520" y="44805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أصنّف العادات إلى صحّية وغير صحّية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الرابع: الغذاء الصحّي</a:t>
            </a:r>
            <a:endParaRPr lang="en-US" sz="3400" dirty="0"/>
          </a:p>
        </p:txBody>
      </p:sp>
      <p:pic>
        <p:nvPicPr>
          <p:cNvPr id="4" name="a:fade:0:800" descr="مجموعة من الخضراوات والفواكه والأسما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4754880" cy="2286000"/>
          </a:xfrm>
          <a:prstGeom prst="rect">
            <a:avLst/>
          </a:prstGeom>
        </p:spPr>
      </p:pic>
      <p:sp>
        <p:nvSpPr>
          <p:cNvPr id="5" name="c1:fade"/>
          <p:cNvSpPr txBox="1"/>
          <p:nvPr/>
        </p:nvSpPr>
        <p:spPr>
          <a:xfrm>
            <a:off x="5577840" y="1463040"/>
            <a:ext cx="6080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6BB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أكثِر من: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الخضراوات والفواكه</a:t>
            </a:r>
            <a:endParaRPr lang="ar-SA" sz="2200" dirty="0"/>
          </a:p>
        </p:txBody>
      </p:sp>
      <p:sp>
        <p:nvSpPr>
          <p:cNvPr id="6" name="c2:fade"/>
          <p:cNvSpPr txBox="1"/>
          <p:nvPr/>
        </p:nvSpPr>
        <p:spPr>
          <a:xfrm>
            <a:off x="5577840" y="2697480"/>
            <a:ext cx="6080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قلِّل من: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الدهون والحلويات والوجبات غير الصحّية</a:t>
            </a:r>
            <a:endParaRPr lang="ar-SA" sz="2200" dirty="0"/>
          </a:p>
        </p:txBody>
      </p:sp>
      <p:sp>
        <p:nvSpPr>
          <p:cNvPr id="7" name="c3:fade"/>
          <p:cNvSpPr txBox="1"/>
          <p:nvPr/>
        </p:nvSpPr>
        <p:spPr>
          <a:xfrm>
            <a:off x="548640" y="402336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تجنّب: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اللحوم المصنّعة والزيوت المهدرجة والسعرات المرتفعة والمشروبات الغازية</a:t>
            </a:r>
            <a:endParaRPr lang="ar-SA" sz="2200" dirty="0"/>
          </a:p>
        </p:txBody>
      </p:sp>
      <p:sp>
        <p:nvSpPr>
          <p:cNvPr id="8" name="c4:zoom:0:600"/>
          <p:cNvSpPr txBox="1"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6BBF59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السبب: تؤذي الجهاز الهضمي والجهاز الدوري، وتظهر أعراضها في المدى البعيد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الخامس: الأخلاق الحسنة</a:t>
            </a:r>
            <a:endParaRPr lang="en-US" sz="3400" dirty="0"/>
          </a:p>
        </p:txBody>
      </p:sp>
      <p:sp>
        <p:nvSpPr>
          <p:cNvPr id="4" name="c1:zoom"/>
          <p:cNvSpPr txBox="1"/>
          <p:nvPr/>
        </p:nvSpPr>
        <p:spPr>
          <a:xfrm>
            <a:off x="8031175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EB5757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الأخلاق الحسنة</a:t>
            </a:r>
            <a:endParaRPr lang="ar-SA" sz="2400" dirty="0"/>
          </a:p>
        </p:txBody>
      </p:sp>
      <p:sp>
        <p:nvSpPr>
          <p:cNvPr id="5" name="c2:zoom"/>
          <p:cNvSpPr txBox="1"/>
          <p:nvPr/>
        </p:nvSpPr>
        <p:spPr>
          <a:xfrm>
            <a:off x="4282135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التمسّك بالعادات الإيجابية</a:t>
            </a:r>
            <a:endParaRPr lang="ar-SA" sz="2400" dirty="0"/>
          </a:p>
        </p:txBody>
      </p:sp>
      <p:sp>
        <p:nvSpPr>
          <p:cNvPr id="6" name="c3:zoom"/>
          <p:cNvSpPr txBox="1"/>
          <p:nvPr/>
        </p:nvSpPr>
        <p:spPr>
          <a:xfrm>
            <a:off x="533095" y="155448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الإنسانية الطيّبة مع الأقرباء والأصدقاء والمحيطين</a:t>
            </a:r>
            <a:endParaRPr lang="ar-SA" sz="2400" dirty="0"/>
          </a:p>
        </p:txBody>
      </p:sp>
      <p:sp>
        <p:nvSpPr>
          <p:cNvPr id="7" name="c4:fade"/>
          <p:cNvSpPr txBox="1"/>
          <p:nvPr/>
        </p:nvSpPr>
        <p:spPr>
          <a:xfrm>
            <a:off x="548640" y="4297680"/>
            <a:ext cx="11109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هدوء وطمأنينة في النفس، وشعور بالسعادة والرضا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 السادس: الاسترخاء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الاسترخاء: </a:t>
            </a:r>
            <a:pPr algn="r" indent="0" marL="0">
              <a:buNone/>
            </a:pPr>
            <a:r>
              <a:rPr lang="ar-SA" altLang="en-US" sz="22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نفسيّة وجسديّة تؤمّن للإنسان طمأنينة كاملة</a:t>
            </a:r>
            <a:endParaRPr lang="ar-SA" sz="2200" dirty="0"/>
          </a:p>
        </p:txBody>
      </p:sp>
      <p:sp>
        <p:nvSpPr>
          <p:cNvPr id="5" name="c2:zoom"/>
          <p:cNvSpPr txBox="1"/>
          <p:nvPr/>
        </p:nvSpPr>
        <p:spPr>
          <a:xfrm>
            <a:off x="6172200" y="242316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الاسترخاء الجسدي</a:t>
            </a:r>
            <a:endParaRPr lang="ar-SA" sz="2200" dirty="0"/>
          </a:p>
        </p:txBody>
      </p:sp>
      <p:sp>
        <p:nvSpPr>
          <p:cNvPr id="6" name="c2:zoom"/>
          <p:cNvSpPr txBox="1"/>
          <p:nvPr/>
        </p:nvSpPr>
        <p:spPr>
          <a:xfrm>
            <a:off x="548640" y="242316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2D9CDB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الاسترخاء النفسي (العقلي)</a:t>
            </a:r>
            <a:endParaRPr lang="ar-SA" sz="2200" dirty="0"/>
          </a:p>
        </p:txBody>
      </p:sp>
      <p:sp>
        <p:nvSpPr>
          <p:cNvPr id="7" name="c3:fade"/>
          <p:cNvSpPr txBox="1"/>
          <p:nvPr/>
        </p:nvSpPr>
        <p:spPr>
          <a:xfrm>
            <a:off x="6172200" y="333756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مفهوم خاطئ: </a:t>
            </a:r>
            <a:pPr algn="r" indent="0" marL="0">
              <a:buNone/>
            </a:pPr>
            <a:r>
              <a:rPr lang="ar-SA" altLang="en-US" sz="19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أنّه سماع الموسيقا ومشاهدة التلفاز، وهي ليست فعّالة بما فيه الكفاية</a:t>
            </a:r>
            <a:endParaRPr lang="ar-SA" sz="1900" dirty="0"/>
          </a:p>
        </p:txBody>
      </p:sp>
      <p:sp>
        <p:nvSpPr>
          <p:cNvPr id="8" name="c4:fade"/>
          <p:cNvSpPr txBox="1"/>
          <p:nvPr/>
        </p:nvSpPr>
        <p:spPr>
          <a:xfrm>
            <a:off x="548640" y="333756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6BB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الأساليب: </a:t>
            </a:r>
            <a:pPr algn="r" indent="0" marL="0">
              <a:buNone/>
            </a:pPr>
            <a:r>
              <a:rPr lang="ar-SA" altLang="en-US" sz="19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استرخاء الأطراف، والتمطّي، والتنفّس العميق، والاستقامة في الوقوف والجلوس</a:t>
            </a:r>
            <a:endParaRPr lang="ar-SA" sz="1900" dirty="0"/>
          </a:p>
        </p:txBody>
      </p:sp>
      <p:sp>
        <p:nvSpPr>
          <p:cNvPr id="9" name="c5:zoom:0:600"/>
          <p:cNvSpPr txBox="1"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10909"/>
            </a:avLst>
          </a:prstGeom>
          <a:solidFill>
            <a:srgbClr val="0B4F4A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شعارنا: العقل سيّد الحواس، والتنفّس يسيطر على العقل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صحّي أم غير صحّي؟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172200" y="137160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6BBF59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عادات صحّية ✓</a:t>
            </a:r>
            <a:endParaRPr lang="ar-SA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EB5757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عادات غير صحّية ✗</a:t>
            </a:r>
            <a:endParaRPr lang="ar-SA" sz="2400" dirty="0"/>
          </a:p>
        </p:txBody>
      </p:sp>
      <p:sp>
        <p:nvSpPr>
          <p:cNvPr id="6" name="c1:fade"/>
          <p:cNvSpPr txBox="1"/>
          <p:nvPr/>
        </p:nvSpPr>
        <p:spPr>
          <a:xfrm>
            <a:off x="6172200" y="228600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النوم العميق في الليل</a:t>
            </a:r>
            <a:endParaRPr lang="ar-SA" sz="2000" dirty="0"/>
          </a:p>
        </p:txBody>
      </p:sp>
      <p:sp>
        <p:nvSpPr>
          <p:cNvPr id="7" name="c1:fade:0:700"/>
          <p:cNvSpPr txBox="1"/>
          <p:nvPr/>
        </p:nvSpPr>
        <p:spPr>
          <a:xfrm>
            <a:off x="548640" y="228600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النقد اللاذع والسخرية</a:t>
            </a:r>
            <a:endParaRPr lang="ar-SA" sz="2000" dirty="0"/>
          </a:p>
        </p:txBody>
      </p:sp>
      <p:sp>
        <p:nvSpPr>
          <p:cNvPr id="8" name="c2:fade"/>
          <p:cNvSpPr txBox="1"/>
          <p:nvPr/>
        </p:nvSpPr>
        <p:spPr>
          <a:xfrm>
            <a:off x="6172200" y="329184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الإكثار من الخضراوات والفواكه</a:t>
            </a:r>
            <a:endParaRPr lang="ar-SA" sz="2000" dirty="0"/>
          </a:p>
        </p:txBody>
      </p:sp>
      <p:sp>
        <p:nvSpPr>
          <p:cNvPr id="9" name="c2:fade:0:700"/>
          <p:cNvSpPr txBox="1"/>
          <p:nvPr/>
        </p:nvSpPr>
        <p:spPr>
          <a:xfrm>
            <a:off x="548640" y="329184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المشروبات الغازية والزيوت المهدرجة</a:t>
            </a:r>
            <a:endParaRPr lang="ar-SA" sz="2000" dirty="0"/>
          </a:p>
        </p:txBody>
      </p:sp>
      <p:sp>
        <p:nvSpPr>
          <p:cNvPr id="10" name="c3:fade"/>
          <p:cNvSpPr txBox="1"/>
          <p:nvPr/>
        </p:nvSpPr>
        <p:spPr>
          <a:xfrm>
            <a:off x="6172200" y="4297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التنفّس العميق عند التوتّر</a:t>
            </a:r>
            <a:endParaRPr lang="ar-SA" sz="2000" dirty="0"/>
          </a:p>
        </p:txBody>
      </p:sp>
      <p:sp>
        <p:nvSpPr>
          <p:cNvPr id="11" name="c3:fade:0:700"/>
          <p:cNvSpPr txBox="1"/>
          <p:nvPr/>
        </p:nvSpPr>
        <p:spPr>
          <a:xfrm>
            <a:off x="548640" y="4297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النوم في النهار فقط</a:t>
            </a:r>
            <a:endParaRPr lang="ar-SA" sz="2000" dirty="0"/>
          </a:p>
        </p:txBody>
      </p:sp>
      <p:sp>
        <p:nvSpPr>
          <p:cNvPr id="12" name="c4:fade"/>
          <p:cNvSpPr txBox="1"/>
          <p:nvPr/>
        </p:nvSpPr>
        <p:spPr>
          <a:xfrm>
            <a:off x="6172200" y="530352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الطيّبة مع الناس</a:t>
            </a:r>
            <a:endParaRPr lang="ar-SA" sz="2000" dirty="0"/>
          </a:p>
        </p:txBody>
      </p:sp>
      <p:sp>
        <p:nvSpPr>
          <p:cNvPr id="13" name="c4:fade:0:700"/>
          <p:cNvSpPr txBox="1"/>
          <p:nvPr/>
        </p:nvSpPr>
        <p:spPr>
          <a:xfrm>
            <a:off x="548640" y="530352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الاكتفاء بالتلفاز للاسترخاء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الحصة الرابعة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الحصة</a:t>
            </a:r>
            <a:endParaRPr lang="ar-SA" sz="2000" dirty="0"/>
          </a:p>
        </p:txBody>
      </p:sp>
      <p:sp>
        <p:nvSpPr>
          <p:cNvPr id="6" name="c1:fade"/>
          <p:cNvSpPr txBox="1"/>
          <p:nvPr/>
        </p:nvSpPr>
        <p:spPr>
          <a:xfrm>
            <a:off x="731520" y="35204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ألخّص النص وأجيب عن أسئلة الفهم</a:t>
            </a:r>
            <a:endParaRPr lang="ar-SA" sz="2200" dirty="0"/>
          </a:p>
        </p:txBody>
      </p:sp>
      <p:sp>
        <p:nvSpPr>
          <p:cNvPr id="7" name="c2:fade"/>
          <p:cNvSpPr txBox="1"/>
          <p:nvPr/>
        </p:nvSpPr>
        <p:spPr>
          <a:xfrm>
            <a:off x="731520" y="448056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14706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أصمّم وصفتي الصحّية الخاصة</a:t>
            </a:r>
            <a:endParaRPr lang="ar-SA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النص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417320"/>
            <a:ext cx="11109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«والخلاصة أنّنا كلّنا ننشد السلامة والصحّة، وليس علينا من أجل تحقيق ذلك سوى أن نعي السُّبُل، ونقرّر البدء، وعلينا أن نسرع في ذلك»</a:t>
            </a:r>
            <a:endParaRPr lang="ar-SA" sz="2400" dirty="0"/>
          </a:p>
        </p:txBody>
      </p:sp>
      <p:sp>
        <p:nvSpPr>
          <p:cNvPr id="5" name="c2:zoom"/>
          <p:cNvSpPr txBox="1"/>
          <p:nvPr/>
        </p:nvSpPr>
        <p:spPr>
          <a:xfrm>
            <a:off x="8031175" y="3291840"/>
            <a:ext cx="3611880" cy="2651760"/>
          </a:xfrm>
          <a:prstGeom prst="roundRect">
            <a:avLst>
              <a:gd name="adj" fmla="val 4138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نعي السُّبُل</a:t>
            </a:r>
            <a:endParaRPr lang="ar-SA" sz="2800" dirty="0"/>
          </a:p>
        </p:txBody>
      </p:sp>
      <p:sp>
        <p:nvSpPr>
          <p:cNvPr id="6" name="c3:zoom"/>
          <p:cNvSpPr txBox="1"/>
          <p:nvPr/>
        </p:nvSpPr>
        <p:spPr>
          <a:xfrm>
            <a:off x="4282135" y="3291840"/>
            <a:ext cx="3611880" cy="2651760"/>
          </a:xfrm>
          <a:prstGeom prst="roundRect">
            <a:avLst>
              <a:gd name="adj" fmla="val 4138"/>
            </a:avLst>
          </a:prstGeom>
          <a:solidFill>
            <a:srgbClr val="F2994A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نقرّر البدء</a:t>
            </a:r>
            <a:endParaRPr lang="ar-SA" sz="2800" dirty="0"/>
          </a:p>
        </p:txBody>
      </p:sp>
      <p:sp>
        <p:nvSpPr>
          <p:cNvPr id="7" name="c4:zoom"/>
          <p:cNvSpPr txBox="1"/>
          <p:nvPr/>
        </p:nvSpPr>
        <p:spPr>
          <a:xfrm>
            <a:off x="533095" y="3291840"/>
            <a:ext cx="3611880" cy="2651760"/>
          </a:xfrm>
          <a:prstGeom prst="roundRect">
            <a:avLst>
              <a:gd name="adj" fmla="val 4138"/>
            </a:avLst>
          </a:prstGeom>
          <a:solidFill>
            <a:srgbClr val="EB5757"/>
          </a:solidFill>
          <a:ln/>
        </p:spPr>
        <p:txBody>
          <a:bodyPr wrap="square" lIns="1905" tIns="1905" rIns="1905" bIns="190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نسرع في ذلك</a:t>
            </a:r>
            <a:endParaRPr lang="ar-SA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فهمك: السؤال 1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0B4F4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الشرط الذي ذكره الكاتب للنوم العميق؟</a:t>
            </a:r>
            <a:endParaRPr lang="ar-SA" sz="2600" dirty="0"/>
          </a:p>
        </p:txBody>
      </p:sp>
      <p:sp>
        <p:nvSpPr>
          <p:cNvPr id="5" name="c2:fade:0:600"/>
          <p:cNvSpPr txBox="1"/>
          <p:nvPr/>
        </p:nvSpPr>
        <p:spPr>
          <a:xfrm>
            <a:off x="617220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ينام في النهار فقط</a:t>
            </a:r>
            <a:endParaRPr lang="ar-SA" sz="2400" dirty="0"/>
          </a:p>
        </p:txBody>
      </p:sp>
      <p:sp>
        <p:nvSpPr>
          <p:cNvPr id="6" name="c2:fade:250:600"/>
          <p:cNvSpPr txBox="1"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ينام الإنسان في الليل</a:t>
            </a:r>
            <a:endParaRPr lang="ar-SA" sz="2400" dirty="0"/>
          </a:p>
        </p:txBody>
      </p:sp>
      <p:sp>
        <p:nvSpPr>
          <p:cNvPr id="7" name="c2:fade:500:600"/>
          <p:cNvSpPr txBox="1"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ينام أقلّ من ست ساعات</a:t>
            </a:r>
            <a:endParaRPr lang="ar-SA" sz="2400" dirty="0"/>
          </a:p>
        </p:txBody>
      </p:sp>
      <p:sp>
        <p:nvSpPr>
          <p:cNvPr id="8" name="c2:fade:750:600"/>
          <p:cNvSpPr txBox="1"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ينام بعد الغداء مباشرة</a:t>
            </a:r>
            <a:endParaRPr lang="ar-SA" sz="2400" dirty="0"/>
          </a:p>
        </p:txBody>
      </p:sp>
      <p:sp>
        <p:nvSpPr>
          <p:cNvPr id="9" name="c3:zoom:0:500"/>
          <p:cNvSpPr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ln w="76200">
            <a:solidFill>
              <a:srgbClr val="6BBF5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فهمك: السؤال 2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0B4F4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أيٌّ ممّا يأتي من الوجبات غير الصحّية بحسب النص؟</a:t>
            </a:r>
            <a:endParaRPr lang="ar-SA" sz="2600" dirty="0"/>
          </a:p>
        </p:txBody>
      </p:sp>
      <p:sp>
        <p:nvSpPr>
          <p:cNvPr id="5" name="c2:fade:0:600"/>
          <p:cNvSpPr txBox="1"/>
          <p:nvPr/>
        </p:nvSpPr>
        <p:spPr>
          <a:xfrm>
            <a:off x="617220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الخضراوات والفواكه</a:t>
            </a:r>
            <a:endParaRPr lang="ar-SA" sz="2400" dirty="0"/>
          </a:p>
        </p:txBody>
      </p:sp>
      <p:sp>
        <p:nvSpPr>
          <p:cNvPr id="6" name="c2:fade:250:600"/>
          <p:cNvSpPr txBox="1"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المشروبات الغازية</a:t>
            </a:r>
            <a:endParaRPr lang="ar-SA" sz="2400" dirty="0"/>
          </a:p>
        </p:txBody>
      </p:sp>
      <p:sp>
        <p:nvSpPr>
          <p:cNvPr id="7" name="c2:fade:500:600"/>
          <p:cNvSpPr txBox="1"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الفواكه الطازجة</a:t>
            </a:r>
            <a:endParaRPr lang="ar-SA" sz="2400" dirty="0"/>
          </a:p>
        </p:txBody>
      </p:sp>
      <p:sp>
        <p:nvSpPr>
          <p:cNvPr id="8" name="c2:fade:750:600"/>
          <p:cNvSpPr txBox="1"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الماء</a:t>
            </a:r>
            <a:endParaRPr lang="ar-SA" sz="2400" dirty="0"/>
          </a:p>
        </p:txBody>
      </p:sp>
      <p:sp>
        <p:nvSpPr>
          <p:cNvPr id="9" name="c3:zoom:0:500"/>
          <p:cNvSpPr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ln w="76200">
            <a:solidFill>
              <a:srgbClr val="6BBF5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فهمك: السؤال 3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0B4F4A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نوعا الاسترخاء كما ورد في النص؟</a:t>
            </a:r>
            <a:endParaRPr lang="ar-SA" sz="2600" dirty="0"/>
          </a:p>
        </p:txBody>
      </p:sp>
      <p:sp>
        <p:nvSpPr>
          <p:cNvPr id="5" name="c2:fade:0:600"/>
          <p:cNvSpPr txBox="1"/>
          <p:nvPr/>
        </p:nvSpPr>
        <p:spPr>
          <a:xfrm>
            <a:off x="617220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الجسدي والنفسي (العقلي)</a:t>
            </a:r>
            <a:endParaRPr lang="ar-SA" sz="2400" dirty="0"/>
          </a:p>
        </p:txBody>
      </p:sp>
      <p:sp>
        <p:nvSpPr>
          <p:cNvPr id="6" name="c2:fade:250:600"/>
          <p:cNvSpPr txBox="1"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الصباحي والمسائي</a:t>
            </a:r>
            <a:endParaRPr lang="ar-SA" sz="2400" dirty="0"/>
          </a:p>
        </p:txBody>
      </p:sp>
      <p:sp>
        <p:nvSpPr>
          <p:cNvPr id="7" name="c2:fade:500:600"/>
          <p:cNvSpPr txBox="1"/>
          <p:nvPr/>
        </p:nvSpPr>
        <p:spPr>
          <a:xfrm>
            <a:off x="617220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الفردي والجماعي</a:t>
            </a:r>
            <a:endParaRPr lang="ar-SA" sz="2400" dirty="0"/>
          </a:p>
        </p:txBody>
      </p:sp>
      <p:sp>
        <p:nvSpPr>
          <p:cNvPr id="8" name="c2:fade:750:600"/>
          <p:cNvSpPr txBox="1"/>
          <p:nvPr/>
        </p:nvSpPr>
        <p:spPr>
          <a:xfrm>
            <a:off x="548640" y="45262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0E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  </a:t>
            </a:r>
            <a:pPr algn="r" indent="0" marL="0">
              <a:buNone/>
            </a:pPr>
            <a:r>
              <a:rPr lang="ar-SA" altLang="en-US" sz="24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المؤقّت والدائم</a:t>
            </a:r>
            <a:endParaRPr lang="ar-SA" sz="2400" dirty="0"/>
          </a:p>
        </p:txBody>
      </p:sp>
      <p:sp>
        <p:nvSpPr>
          <p:cNvPr id="9" name="c3:zoom:0:500"/>
          <p:cNvSpPr/>
          <p:nvPr/>
        </p:nvSpPr>
        <p:spPr>
          <a:xfrm>
            <a:off x="6172200" y="2788920"/>
            <a:ext cx="5486400" cy="1508760"/>
          </a:xfrm>
          <a:prstGeom prst="roundRect">
            <a:avLst>
              <a:gd name="adj" fmla="val 7273"/>
            </a:avLst>
          </a:prstGeom>
          <a:ln w="76200">
            <a:solidFill>
              <a:srgbClr val="6BBF5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صمّمي وصفتك الصحّية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0E8C7F"/>
          </a:solidFill>
          <a:ln/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ثلاثة مكوّنات من الوصفة، واكتبي لكل مكوّن عادة ستلتزمين بها هذا الأسبوع</a:t>
            </a:r>
            <a:endParaRPr lang="ar-SA" sz="2200" dirty="0"/>
          </a:p>
        </p:txBody>
      </p:sp>
      <p:sp>
        <p:nvSpPr>
          <p:cNvPr id="5" name="c2:zoom"/>
          <p:cNvSpPr txBox="1"/>
          <p:nvPr/>
        </p:nvSpPr>
        <p:spPr>
          <a:xfrm>
            <a:off x="8031175" y="25603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عادتي: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</p:txBody>
      </p:sp>
      <p:sp>
        <p:nvSpPr>
          <p:cNvPr id="6" name="c3:zoom"/>
          <p:cNvSpPr txBox="1"/>
          <p:nvPr/>
        </p:nvSpPr>
        <p:spPr>
          <a:xfrm>
            <a:off x="4282135" y="25603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b="1" dirty="0">
                <a:solidFill>
                  <a:srgbClr val="2D9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عادتي: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</p:txBody>
      </p:sp>
      <p:sp>
        <p:nvSpPr>
          <p:cNvPr id="7" name="c4:zoom"/>
          <p:cNvSpPr txBox="1"/>
          <p:nvPr/>
        </p:nvSpPr>
        <p:spPr>
          <a:xfrm>
            <a:off x="533095" y="256032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t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b="1" dirty="0">
                <a:solidFill>
                  <a:srgbClr val="9B5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عادتي: 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2200" dirty="0">
                <a:solidFill>
                  <a:srgbClr val="5B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en-US" sz="3400" dirty="0"/>
          </a:p>
        </p:txBody>
      </p:sp>
      <p:sp>
        <p:nvSpPr>
          <p:cNvPr id="4" name="c1:fade"/>
          <p:cNvSpPr txBox="1"/>
          <p:nvPr/>
        </p:nvSpPr>
        <p:spPr>
          <a:xfrm>
            <a:off x="548640" y="1554480"/>
            <a:ext cx="11109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تعلّمتُ أنّ ...</a:t>
            </a:r>
            <a:endParaRPr lang="ar-SA" sz="2600" dirty="0"/>
          </a:p>
        </p:txBody>
      </p:sp>
      <p:sp>
        <p:nvSpPr>
          <p:cNvPr id="5" name="c2:fade"/>
          <p:cNvSpPr txBox="1"/>
          <p:nvPr/>
        </p:nvSpPr>
        <p:spPr>
          <a:xfrm>
            <a:off x="548640" y="3108960"/>
            <a:ext cx="11109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مكوّن سألتزم به هو ... لأنّ ...</a:t>
            </a:r>
            <a:endParaRPr lang="ar-SA" sz="2600" dirty="0"/>
          </a:p>
        </p:txBody>
      </p:sp>
      <p:sp>
        <p:nvSpPr>
          <p:cNvPr id="6" name="c3:fade"/>
          <p:cNvSpPr txBox="1"/>
          <p:nvPr/>
        </p:nvSpPr>
        <p:spPr>
          <a:xfrm>
            <a:off x="548640" y="4663440"/>
            <a:ext cx="11109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rgbClr val="1D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ما زال في ذهني ...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F6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:fade:0:1000" descr="فتاة أمام بحير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4" name="c1:fade"/>
          <p:cNvSpPr txBox="1"/>
          <p:nvPr/>
        </p:nvSpPr>
        <p:spPr>
          <a:xfrm>
            <a:off x="5486400" y="1463040"/>
            <a:ext cx="6126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نعي السُّبُل</a:t>
            </a:r>
            <a:endParaRPr lang="ar-SA" sz="4400" dirty="0"/>
          </a:p>
        </p:txBody>
      </p:sp>
      <p:sp>
        <p:nvSpPr>
          <p:cNvPr id="5" name="c2:fade"/>
          <p:cNvSpPr txBox="1"/>
          <p:nvPr/>
        </p:nvSpPr>
        <p:spPr>
          <a:xfrm>
            <a:off x="5486400" y="2560320"/>
            <a:ext cx="6126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ونقرّر البدء</a:t>
            </a:r>
            <a:endParaRPr lang="ar-SA" sz="4400" dirty="0"/>
          </a:p>
        </p:txBody>
      </p:sp>
      <p:sp>
        <p:nvSpPr>
          <p:cNvPr id="6" name="c3:fade"/>
          <p:cNvSpPr txBox="1"/>
          <p:nvPr/>
        </p:nvSpPr>
        <p:spPr>
          <a:xfrm>
            <a:off x="5486400" y="3657600"/>
            <a:ext cx="6126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6BB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ونسرع في ذلك</a:t>
            </a:r>
            <a:endParaRPr lang="ar-SA" sz="4400" dirty="0"/>
          </a:p>
        </p:txBody>
      </p:sp>
      <p:sp>
        <p:nvSpPr>
          <p:cNvPr id="7" name="c4:fade"/>
          <p:cNvSpPr txBox="1"/>
          <p:nvPr/>
        </p:nvSpPr>
        <p:spPr>
          <a:xfrm>
            <a:off x="5486400" y="5029200"/>
            <a:ext cx="6126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rgbClr val="CFE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لكنّ</a:t>
            </a:r>
            <a:endParaRPr lang="ar-SA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HealthyLife">
  <a:themeElements>
    <a:clrScheme name="HealthyLife">
      <a:dk1>
        <a:srgbClr val="1D2B2A"/>
      </a:dk1>
      <a:lt1>
        <a:srgbClr val="FFFFFF"/>
      </a:lt1>
      <a:dk2>
        <a:srgbClr val="0B4F4A"/>
      </a:dk2>
      <a:lt2>
        <a:srgbClr val="F2F9F7"/>
      </a:lt2>
      <a:accent1>
        <a:srgbClr val="0E8C7F"/>
      </a:accent1>
      <a:accent2>
        <a:srgbClr val="F2994A"/>
      </a:accent2>
      <a:accent3>
        <a:srgbClr val="2D9CDB"/>
      </a:accent3>
      <a:accent4>
        <a:srgbClr val="9B51E0"/>
      </a:accent4>
      <a:accent5>
        <a:srgbClr val="EB5757"/>
      </a:accent5>
      <a:accent6>
        <a:srgbClr val="6BBF59"/>
      </a:accent6>
      <a:hlink>
        <a:srgbClr val="0E8C7F"/>
      </a:hlink>
      <a:folHlink>
        <a:srgbClr val="5B6F6C"/>
      </a:folHlink>
    </a:clrScheme>
    <a:fontScheme name="HealthyLif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 أجل نمط عيش صحي</dc:title>
  <dc:subject>PptxGenJS Presentation</dc:subject>
  <dc:creator>PptxGenJS</dc:creator>
  <cp:lastModifiedBy>PptxGenJS</cp:lastModifiedBy>
  <cp:revision>1</cp:revision>
  <dcterms:created xsi:type="dcterms:W3CDTF">2026-10-30T07:21:41Z</dcterms:created>
  <dcterms:modified xsi:type="dcterms:W3CDTF">2026-10-30T07:21:41Z</dcterms:modified>
</cp:coreProperties>
</file>